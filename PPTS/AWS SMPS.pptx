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4" r:id="rId2"/>
    <p:sldId id="268" r:id="rId3"/>
    <p:sldId id="269" r:id="rId4"/>
    <p:sldId id="270" r:id="rId5"/>
    <p:sldId id="271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17" autoAdjust="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A82D1-CCC9-4A6A-B1A0-7B9D15704C2A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AC2A40-6B0D-43DB-B99F-5E90BC5127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964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5BF6E-0774-69AC-DEBE-AB187A61D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C5A90-85D6-F9EF-4A20-102ADEB57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A2609-55AF-5D00-D1A2-EC9574A59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F6A81-758C-EEED-FF1E-FB7C1FDDD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C9149-BC79-1DCA-E626-04D2CBF66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728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3AA17-2549-A5B0-7877-FD676EAF2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DCD4F-3591-494D-E735-D92612382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8A40A-C9AD-6AB2-F63B-C9AA33635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B833B-F684-B080-5F15-79A581E8B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AD2D7-EEB0-8CC3-9C22-69BE5DE58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26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21902-DBCE-DCAF-EBFA-59BD9F3EB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C3783-320A-0055-1751-2C0951227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1803D-AE72-9A55-AE7A-8FF4283DB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DEE6F-1D31-2D0B-B022-AD04E675B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98AF9-1D39-08B6-969B-70200A7B2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3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E43DF-6119-2C5D-BA90-4A7598974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E8A0F-59A6-A605-45A2-46DCC8B84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C6D39-590C-88FF-1BAE-06B551915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D4EDF-BAC8-3BFE-105C-2FFA60116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AA8C5-1218-7799-02AE-1CB614541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77B09-5311-A156-3973-630232D8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42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4BACC-D0E6-7D08-2F49-423D4BE28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7EDB4-855D-A077-C003-782AA7CA2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4064F-6465-D9C4-DEA2-AD17FD876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7190DB-C071-6605-2D5B-51DB2DBEFC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A4B36-99A9-BEFD-06D1-3691D11568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B65DAE-F7F7-A0AB-1E5E-6B94FF97E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A1A28B-1197-A8B1-B009-3EA2C918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8965EB-E941-B26E-781F-263AC26B8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333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6FBD9-1635-BB36-D889-5E184213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C90E9-EF82-4674-C339-9C422FAE6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AA4824-C159-EE7D-22FC-C5505EC2C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A8CC0-B67E-22B4-B89A-D1D26A303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894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7BE227-FB82-30B7-FA4A-88C5F1EA2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37845-6BEF-E9D2-3B40-1EF3B9A92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7E2D4-5A4C-B43B-A2F9-F8EE9FBC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747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3D296-F3B7-FFAC-E740-C79A89E19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862C2-A08D-C8E4-9B0C-AF6ADD0A2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E4B190-9FC7-2897-CBC1-AFFECC877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30F0-07F0-2914-FE3D-2BD56891B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CD1AF-CF68-3BEB-303B-A8BB288E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6AC4E-B34B-D17F-228F-0ED95CA08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35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D1FA8-7F49-A131-457D-03C6063E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7134F5-D5F9-E0BF-1F48-E492C3A5C0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4A342-B84D-9B1C-A0FC-B625C9CF6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ED652-30DC-4C4C-297A-85B8B72B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0DC1E-D904-EEEB-C3D2-198389B1A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CEF54-46CE-58B1-B1F5-56795FAE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928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F4AD2-E3F1-E476-7FF8-0DD66432E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713E4-4F35-3DD5-D5CE-461E85D67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2C7C4-EDCF-0C12-DAC7-DB938EEBC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5347C-F425-F2C0-CF30-BB98665BE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34EB1-77B5-7E25-F428-1F87D3707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236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68FF74-D03B-3AA2-5ABB-EE478E55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E62C17-2DB2-D3CE-B89F-E9FDB7FBC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12A48-22B6-10A0-AAB4-0181DE684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6D7CB-2C51-CC14-0B52-ABE04CF2E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F65DF-E42E-8E14-89CF-2E851665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909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889E9D-FB23-294A-7DBE-A421F171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91F2F-3726-EDA5-1F0D-E3DE91FF5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1282F-4508-0EE5-B35D-1AD566606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7DBF-E081-43AC-9BB5-C37C4BA7406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5D27E-50E4-003C-DB9A-9A15744CC8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8C9F8-B5ED-2AD7-FAA5-D58106124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54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5B6F66-B854-D642-385B-97A9017DCDC7}"/>
              </a:ext>
            </a:extLst>
          </p:cNvPr>
          <p:cNvSpPr txBox="1"/>
          <p:nvPr/>
        </p:nvSpPr>
        <p:spPr>
          <a:xfrm>
            <a:off x="235670" y="480767"/>
            <a:ext cx="11726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Topic on:-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AEF9C6-A7D9-A1D4-6392-73B7329AD3A2}"/>
              </a:ext>
            </a:extLst>
          </p:cNvPr>
          <p:cNvSpPr txBox="1"/>
          <p:nvPr/>
        </p:nvSpPr>
        <p:spPr>
          <a:xfrm>
            <a:off x="7946797" y="5335571"/>
            <a:ext cx="37801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</a:rPr>
              <a:t>		Presented By:-</a:t>
            </a:r>
          </a:p>
          <a:p>
            <a:endParaRPr lang="en-IN" sz="2000" b="1" dirty="0">
              <a:solidFill>
                <a:schemeClr val="accent1"/>
              </a:solidFill>
            </a:endParaRPr>
          </a:p>
          <a:p>
            <a:r>
              <a:rPr lang="en-IN" sz="2000" b="1" dirty="0"/>
              <a:t>		Sai varun Reddy</a:t>
            </a:r>
          </a:p>
          <a:p>
            <a:r>
              <a:rPr lang="en-IN" sz="2000" b="1" dirty="0"/>
              <a:t>		Batch - 15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7EA9A8-9692-3274-0826-E947CE360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956" y="1358336"/>
            <a:ext cx="8845485" cy="379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515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465FF0-6DEB-A196-26D5-9EF2492F6879}"/>
              </a:ext>
            </a:extLst>
          </p:cNvPr>
          <p:cNvSpPr txBox="1"/>
          <p:nvPr/>
        </p:nvSpPr>
        <p:spPr>
          <a:xfrm>
            <a:off x="75414" y="226243"/>
            <a:ext cx="1211658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is Parameter Store?</a:t>
            </a:r>
          </a:p>
          <a:p>
            <a:endParaRPr lang="en-US" dirty="0"/>
          </a:p>
          <a:p>
            <a:r>
              <a:rPr lang="en-US" dirty="0"/>
              <a:t>Definition: Parameter Store is a feature of AWS Systems Manager that provides secure, hierarchical storage for configuration data management and secrets management.</a:t>
            </a:r>
          </a:p>
          <a:p>
            <a:endParaRPr lang="en-US" dirty="0"/>
          </a:p>
          <a:p>
            <a:r>
              <a:rPr lang="en-US" dirty="0"/>
              <a:t>Key Use Case: Store data such as passwords, database strings, AMI IDs, and license codes as parameter values that can be referenced by your applications and AWS resources.</a:t>
            </a:r>
          </a:p>
          <a:p>
            <a:endParaRPr lang="en-US" dirty="0"/>
          </a:p>
          <a:p>
            <a:r>
              <a:rPr lang="en-US" dirty="0"/>
              <a:t>Analogy: Think of it as a centralized, secure vault for your application settings and sensitive data.</a:t>
            </a:r>
          </a:p>
          <a:p>
            <a:endParaRPr lang="en-US" dirty="0"/>
          </a:p>
          <a:p>
            <a:r>
              <a:rPr lang="en-US" b="1" dirty="0"/>
              <a:t>Why Use Parameter Store? (Problem Solved)</a:t>
            </a:r>
          </a:p>
          <a:p>
            <a:endParaRPr lang="en-US" dirty="0"/>
          </a:p>
          <a:p>
            <a:r>
              <a:rPr lang="en-US" dirty="0"/>
              <a:t>Old Way: Hardcoding secrets/configs in code, storing them in configuration files, or using environment variables (less secure, difficult to update).</a:t>
            </a:r>
          </a:p>
          <a:p>
            <a:endParaRPr lang="en-US" dirty="0"/>
          </a:p>
          <a:p>
            <a:r>
              <a:rPr lang="en-US" dirty="0"/>
              <a:t>Parameter Store Solves This By:</a:t>
            </a:r>
          </a:p>
          <a:p>
            <a:endParaRPr lang="en-US" dirty="0"/>
          </a:p>
          <a:p>
            <a:r>
              <a:rPr lang="en-US" dirty="0"/>
              <a:t>Separation of Concerns: Decoupling configuration data/secrets from code.</a:t>
            </a:r>
          </a:p>
          <a:p>
            <a:endParaRPr lang="en-US" dirty="0"/>
          </a:p>
          <a:p>
            <a:r>
              <a:rPr lang="en-US" dirty="0"/>
              <a:t>Centralized Management: A single source of truth for all parameters.</a:t>
            </a:r>
          </a:p>
          <a:p>
            <a:endParaRPr lang="en-US" dirty="0"/>
          </a:p>
          <a:p>
            <a:r>
              <a:rPr lang="en-US" dirty="0"/>
              <a:t>Security: Encryption for sensitive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7974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643E9C-697D-93D7-24F2-A94F5B95954A}"/>
              </a:ext>
            </a:extLst>
          </p:cNvPr>
          <p:cNvSpPr txBox="1"/>
          <p:nvPr/>
        </p:nvSpPr>
        <p:spPr>
          <a:xfrm>
            <a:off x="84841" y="128628"/>
            <a:ext cx="11792931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Parameter Types</a:t>
            </a:r>
            <a:endParaRPr lang="en-IN" dirty="0"/>
          </a:p>
          <a:p>
            <a:r>
              <a:rPr lang="en-IN" dirty="0"/>
              <a:t>String: Stores plain text data (e.g., a service URL, database name).</a:t>
            </a:r>
          </a:p>
          <a:p>
            <a:endParaRPr lang="en-IN" dirty="0"/>
          </a:p>
          <a:p>
            <a:r>
              <a:rPr lang="en-IN" dirty="0" err="1"/>
              <a:t>StringList</a:t>
            </a:r>
            <a:r>
              <a:rPr lang="en-IN" dirty="0"/>
              <a:t>: Stores a comma-separated list of values.</a:t>
            </a:r>
          </a:p>
          <a:p>
            <a:endParaRPr lang="en-IN" dirty="0"/>
          </a:p>
          <a:p>
            <a:r>
              <a:rPr lang="en-IN" dirty="0" err="1"/>
              <a:t>SecureString</a:t>
            </a:r>
            <a:r>
              <a:rPr lang="en-IN" dirty="0"/>
              <a:t>: Stores sensitive data, encrypted using an AWS Key Management Service (KMS) key.</a:t>
            </a:r>
          </a:p>
          <a:p>
            <a:endParaRPr lang="en-IN" dirty="0"/>
          </a:p>
          <a:p>
            <a:r>
              <a:rPr lang="en-IN" b="1" dirty="0"/>
              <a:t>Hierarchical Organization</a:t>
            </a:r>
            <a:endParaRPr lang="en-IN" dirty="0"/>
          </a:p>
          <a:p>
            <a:r>
              <a:rPr lang="en-IN" dirty="0"/>
              <a:t>Use a slash (/) separated naming convention to create logical groups (e.g., /dev/</a:t>
            </a:r>
            <a:r>
              <a:rPr lang="en-IN" dirty="0" err="1"/>
              <a:t>myapp</a:t>
            </a:r>
            <a:r>
              <a:rPr lang="en-IN" dirty="0"/>
              <a:t>/database-</a:t>
            </a:r>
            <a:r>
              <a:rPr lang="en-IN" dirty="0" err="1"/>
              <a:t>url</a:t>
            </a:r>
            <a:r>
              <a:rPr lang="en-IN" dirty="0"/>
              <a:t>, /prod/</a:t>
            </a:r>
            <a:r>
              <a:rPr lang="en-IN" dirty="0" err="1"/>
              <a:t>myapp</a:t>
            </a:r>
            <a:r>
              <a:rPr lang="en-IN" dirty="0"/>
              <a:t>/</a:t>
            </a:r>
            <a:r>
              <a:rPr lang="en-IN" dirty="0" err="1"/>
              <a:t>api</a:t>
            </a:r>
            <a:r>
              <a:rPr lang="en-IN" dirty="0"/>
              <a:t>-key).</a:t>
            </a:r>
          </a:p>
          <a:p>
            <a:endParaRPr lang="en-IN" dirty="0"/>
          </a:p>
          <a:p>
            <a:r>
              <a:rPr lang="en-IN" dirty="0"/>
              <a:t>Benefit: Allows for easy organization and retrieval of parameters by path (e.g., get all parameters under /prod/</a:t>
            </a:r>
            <a:r>
              <a:rPr lang="en-IN" dirty="0" err="1"/>
              <a:t>myapp</a:t>
            </a:r>
            <a:r>
              <a:rPr lang="en-IN" dirty="0"/>
              <a:t>).</a:t>
            </a:r>
          </a:p>
          <a:p>
            <a:endParaRPr lang="en-IN" dirty="0"/>
          </a:p>
          <a:p>
            <a:r>
              <a:rPr lang="en-US" b="1" dirty="0"/>
              <a:t>Security and Access Control</a:t>
            </a:r>
            <a:endParaRPr lang="en-US" dirty="0"/>
          </a:p>
          <a:p>
            <a:pPr lvl="1"/>
            <a:r>
              <a:rPr lang="en-US" b="1" dirty="0"/>
              <a:t>Encryption:</a:t>
            </a:r>
            <a:r>
              <a:rPr lang="en-US" dirty="0"/>
              <a:t> </a:t>
            </a:r>
            <a:r>
              <a:rPr lang="en-US" dirty="0" err="1"/>
              <a:t>SecureString</a:t>
            </a:r>
            <a:r>
              <a:rPr lang="en-US" dirty="0"/>
              <a:t> uses AWS KMS for encryption/decryption.</a:t>
            </a:r>
          </a:p>
          <a:p>
            <a:pPr lvl="1"/>
            <a:r>
              <a:rPr lang="en-US" b="1" dirty="0"/>
              <a:t>IAM Integration:</a:t>
            </a:r>
            <a:r>
              <a:rPr lang="en-US" dirty="0"/>
              <a:t> Use </a:t>
            </a:r>
            <a:r>
              <a:rPr lang="en-US" b="1" dirty="0"/>
              <a:t>AWS IAM policies</a:t>
            </a:r>
            <a:r>
              <a:rPr lang="en-US" dirty="0"/>
              <a:t> for fine-grained access control to specific parameters or hierarchies.</a:t>
            </a:r>
          </a:p>
          <a:p>
            <a:pPr lvl="1"/>
            <a:r>
              <a:rPr lang="en-US" b="1" dirty="0"/>
              <a:t>Auditability:</a:t>
            </a:r>
            <a:r>
              <a:rPr lang="en-US" dirty="0"/>
              <a:t> All API calls (gets, puts, deletes) are logged in </a:t>
            </a:r>
            <a:r>
              <a:rPr lang="en-US" b="1" dirty="0"/>
              <a:t>AWS CloudTrail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b="1" dirty="0"/>
              <a:t>Versioning and Notifications</a:t>
            </a:r>
            <a:endParaRPr lang="en-US" dirty="0"/>
          </a:p>
          <a:p>
            <a:pPr lvl="1"/>
            <a:r>
              <a:rPr lang="en-US" b="1" dirty="0"/>
              <a:t>Versioning:</a:t>
            </a:r>
            <a:r>
              <a:rPr lang="en-US" dirty="0"/>
              <a:t> Parameter Store automatically keeps a history of parameter values, allowing you to track changes and easily revert to a previous version.</a:t>
            </a:r>
          </a:p>
          <a:p>
            <a:pPr lvl="1"/>
            <a:r>
              <a:rPr lang="en-US" b="1" dirty="0"/>
              <a:t>Notifications:</a:t>
            </a:r>
            <a:r>
              <a:rPr lang="en-US" dirty="0"/>
              <a:t> Integrate with </a:t>
            </a:r>
            <a:r>
              <a:rPr lang="en-US" b="1" dirty="0"/>
              <a:t>Amazon </a:t>
            </a:r>
            <a:r>
              <a:rPr lang="en-US" b="1" dirty="0" err="1"/>
              <a:t>EventBridge</a:t>
            </a:r>
            <a:r>
              <a:rPr lang="en-US" dirty="0"/>
              <a:t> to trigger actions (like a Lambda function) or notifications when a parameter value is changed.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517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76B24A-19AE-D237-EF65-5C6A6586BA89}"/>
              </a:ext>
            </a:extLst>
          </p:cNvPr>
          <p:cNvSpPr txBox="1"/>
          <p:nvPr/>
        </p:nvSpPr>
        <p:spPr>
          <a:xfrm>
            <a:off x="95839" y="165617"/>
            <a:ext cx="1200032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Core Benefits</a:t>
            </a:r>
          </a:p>
          <a:p>
            <a:endParaRPr lang="en-US" dirty="0"/>
          </a:p>
          <a:p>
            <a:r>
              <a:rPr lang="en-US" dirty="0"/>
              <a:t>Improved Security: No more plain-text secrets in code or configuration files.</a:t>
            </a:r>
          </a:p>
          <a:p>
            <a:endParaRPr lang="en-US" dirty="0"/>
          </a:p>
          <a:p>
            <a:r>
              <a:rPr lang="en-US" dirty="0"/>
              <a:t>Simplicity and Consistency: Centralized management across different applications and environments (dev, test, prod).</a:t>
            </a:r>
          </a:p>
          <a:p>
            <a:endParaRPr lang="en-US" dirty="0"/>
          </a:p>
          <a:p>
            <a:r>
              <a:rPr lang="en-US" dirty="0"/>
              <a:t>Reduced Operational Overhead: Update configuration once without deploying new code.</a:t>
            </a:r>
          </a:p>
          <a:p>
            <a:endParaRPr lang="en-US" dirty="0"/>
          </a:p>
          <a:p>
            <a:r>
              <a:rPr lang="en-US" dirty="0"/>
              <a:t>Cost-Effective: Standard parameters are free of charge.</a:t>
            </a:r>
          </a:p>
          <a:p>
            <a:endParaRPr lang="en-US" dirty="0"/>
          </a:p>
          <a:p>
            <a:r>
              <a:rPr lang="en-US" b="1" dirty="0"/>
              <a:t>Standard vs. Advanced Parameters</a:t>
            </a:r>
          </a:p>
          <a:p>
            <a:endParaRPr lang="en-US" dirty="0"/>
          </a:p>
          <a:p>
            <a:r>
              <a:rPr lang="en-US" dirty="0"/>
              <a:t>Standard: Free, up to 10,000 parameters, 4 KB maximum value size.</a:t>
            </a:r>
          </a:p>
          <a:p>
            <a:endParaRPr lang="en-US" dirty="0"/>
          </a:p>
          <a:p>
            <a:r>
              <a:rPr lang="en-US" dirty="0"/>
              <a:t>Advanced: Paid (small monthly charge), up to 100,000 parameters, 8 KB maximum value size, includes Parameter Policies (e.g., expiration).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5244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4116D8-9F76-7E53-9A11-05EAE9EAB11B}"/>
              </a:ext>
            </a:extLst>
          </p:cNvPr>
          <p:cNvSpPr txBox="1"/>
          <p:nvPr/>
        </p:nvSpPr>
        <p:spPr>
          <a:xfrm>
            <a:off x="86412" y="0"/>
            <a:ext cx="1201917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Advantages of Parameter Store (Compared to Secrets Manager)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Cost: The Standard tier is completely free for storage and standard API throughput (up to 10,000 parameters). Secrets Manager is a paid service.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Versatility: It is ideal for storing both encrypted secrets (</a:t>
            </a:r>
            <a:r>
              <a:rPr lang="en-US" dirty="0" err="1"/>
              <a:t>SecureString</a:t>
            </a:r>
            <a:r>
              <a:rPr lang="en-US" dirty="0"/>
              <a:t>) and routine application configuration data (String, </a:t>
            </a:r>
            <a:r>
              <a:rPr lang="en-US" dirty="0" err="1"/>
              <a:t>StringList</a:t>
            </a:r>
            <a:r>
              <a:rPr lang="en-US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Hierarchical Organization: It natively supports an easy-to-manage folder-like structure using paths (e.g., /app/prod/</a:t>
            </a:r>
            <a:r>
              <a:rPr lang="en-US" dirty="0" err="1"/>
              <a:t>db-url</a:t>
            </a:r>
            <a:r>
              <a:rPr lang="en-US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Integration: It is a core component of AWS Systems Manager, simplifying its integration with other SSM features like Run Command and Automation.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Simple Parameter Policies: Advanced Parameters offer simple policies like setting an expiration (Time-to-Live or TTL) for configuration parameters.</a:t>
            </a:r>
          </a:p>
          <a:p>
            <a:endParaRPr lang="en-US" dirty="0"/>
          </a:p>
          <a:p>
            <a:r>
              <a:rPr lang="en-US" b="1" dirty="0"/>
              <a:t>Disadvantages of Parameter Store (Compared to Secrets Manager)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Built-in Auto-Rotation: It lacks native, automatic rotation capabilities for secrets (e.g., database credentials). Custom Lambda functions are required for rotation.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Smaller Size Limit: Parameter values are limited to 4 KB (Standard) or 8 KB (Advanced). Secrets Manager supports a much larger 64 KB size.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Limited Versioning: Only one version of a parameter can be active at any time, which complicates zero-downtime secret rotation/updates.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Complex Cross-Account Access: Sharing secrets with other AWS accounts requires more complex IAM role delegation rather than native resource policies.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Lower Throughput: It has lower default API request limits than Secrets Manager, which can be a concern for high-volume, high-scale applications (requiring the paid Advanced Tier for higher limits).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8782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8DF53210-AD0A-FE3C-3321-60B272E84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2" y="75413"/>
            <a:ext cx="11962614" cy="6693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930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4068A8A-67F0-2095-9C71-B849A9D43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75" y="84343"/>
            <a:ext cx="11924907" cy="6711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042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764</Words>
  <Application>Microsoft Office PowerPoint</Application>
  <PresentationFormat>Widescreen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Rishitha Reddy</dc:creator>
  <cp:lastModifiedBy>Rishitha Reddy</cp:lastModifiedBy>
  <cp:revision>36</cp:revision>
  <dcterms:created xsi:type="dcterms:W3CDTF">2025-10-20T10:47:09Z</dcterms:created>
  <dcterms:modified xsi:type="dcterms:W3CDTF">2025-11-03T09:07:12Z</dcterms:modified>
</cp:coreProperties>
</file>