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4" r:id="rId2"/>
    <p:sldId id="273" r:id="rId3"/>
    <p:sldId id="256" r:id="rId4"/>
    <p:sldId id="257" r:id="rId5"/>
    <p:sldId id="260" r:id="rId6"/>
    <p:sldId id="268" r:id="rId7"/>
    <p:sldId id="269" r:id="rId8"/>
    <p:sldId id="272" r:id="rId9"/>
    <p:sldId id="270" r:id="rId10"/>
    <p:sldId id="271" r:id="rId11"/>
    <p:sldId id="263" r:id="rId12"/>
    <p:sldId id="258" r:id="rId13"/>
    <p:sldId id="259" r:id="rId14"/>
    <p:sldId id="261" r:id="rId15"/>
    <p:sldId id="265" r:id="rId16"/>
    <p:sldId id="262"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17" autoAdjust="0"/>
  </p:normalViewPr>
  <p:slideViewPr>
    <p:cSldViewPr snapToGrid="0">
      <p:cViewPr varScale="1">
        <p:scale>
          <a:sx n="81" d="100"/>
          <a:sy n="81"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CA82D1-CCC9-4A6A-B1A0-7B9D15704C2A}" type="datetimeFigureOut">
              <a:rPr lang="en-IN" smtClean="0"/>
              <a:t>24-10-2025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AC2A40-6B0D-43DB-B99F-5E90BC5127B5}" type="slidenum">
              <a:rPr lang="en-IN" smtClean="0"/>
              <a:t>‹#›</a:t>
            </a:fld>
            <a:endParaRPr lang="en-IN"/>
          </a:p>
        </p:txBody>
      </p:sp>
    </p:spTree>
    <p:extLst>
      <p:ext uri="{BB962C8B-B14F-4D97-AF65-F5344CB8AC3E}">
        <p14:creationId xmlns:p14="http://schemas.microsoft.com/office/powerpoint/2010/main" val="28519644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5BF6E-0774-69AC-DEBE-AB187A61DF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BC5A90-85D6-F9EF-4A20-102ADEB571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23A2609-55AF-5D00-D1A2-EC9574A59091}"/>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5" name="Footer Placeholder 4">
            <a:extLst>
              <a:ext uri="{FF2B5EF4-FFF2-40B4-BE49-F238E27FC236}">
                <a16:creationId xmlns:a16="http://schemas.microsoft.com/office/drawing/2014/main" id="{D7BF6A81-758C-EEED-FF1E-FB7C1FDDD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AC9149-BC79-1DCA-E626-04D2CBF6677B}"/>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1972728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3AA17-2549-A5B0-7877-FD676EAF2E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DDCD4F-3591-494D-E735-D92612382F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E8A40A-C9AD-6AB2-F63B-C9AA33635426}"/>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5" name="Footer Placeholder 4">
            <a:extLst>
              <a:ext uri="{FF2B5EF4-FFF2-40B4-BE49-F238E27FC236}">
                <a16:creationId xmlns:a16="http://schemas.microsoft.com/office/drawing/2014/main" id="{E57B833B-F684-B080-5F15-79A581E8BA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AAD2D7-EEB0-8CC3-9C22-69BE5DE58299}"/>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276926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21902-DBCE-DCAF-EBFA-59BD9F3EB9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FC3783-320A-0055-1751-2C09512276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A1803D-AE72-9A55-AE7A-8FF4283DBB02}"/>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5" name="Footer Placeholder 4">
            <a:extLst>
              <a:ext uri="{FF2B5EF4-FFF2-40B4-BE49-F238E27FC236}">
                <a16:creationId xmlns:a16="http://schemas.microsoft.com/office/drawing/2014/main" id="{F9DDEE6F-1D31-2D0B-B022-AD04E675B8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798AF9-1D39-08B6-969B-70200A7B26CE}"/>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226638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E43DF-6119-2C5D-BA90-4A75989745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1E8A0F-59A6-A605-45A2-46DCC8B84D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06C6D39-590C-88FF-1BAE-06B5519152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5D4EDF-BAC8-3BFE-105C-2FFA60116C83}"/>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6" name="Footer Placeholder 5">
            <a:extLst>
              <a:ext uri="{FF2B5EF4-FFF2-40B4-BE49-F238E27FC236}">
                <a16:creationId xmlns:a16="http://schemas.microsoft.com/office/drawing/2014/main" id="{9D2AA8C5-1218-7799-02AE-1CB6145411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977B09-5311-A156-3973-630232D8A1B8}"/>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60342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4BACC-D0E6-7D08-2F49-423D4BE286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F7EDB4-855D-A077-C003-782AA7CA2A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24064F-6465-D9C4-DEA2-AD17FD8763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C7190DB-C071-6605-2D5B-51DB2DBEFC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A4B36-99A9-BEFD-06D1-3691D11568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B65DAE-F7F7-A0AB-1E5E-6B94FF97E578}"/>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8" name="Footer Placeholder 7">
            <a:extLst>
              <a:ext uri="{FF2B5EF4-FFF2-40B4-BE49-F238E27FC236}">
                <a16:creationId xmlns:a16="http://schemas.microsoft.com/office/drawing/2014/main" id="{A5A1A28B-1197-A8B1-B009-3EA2C918098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8965EB-E941-B26E-781F-263AC26B879C}"/>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3303333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6FBD9-1635-BB36-D889-5E18421351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2C90E9-EF82-4674-C339-9C422FAE66ED}"/>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4" name="Footer Placeholder 3">
            <a:extLst>
              <a:ext uri="{FF2B5EF4-FFF2-40B4-BE49-F238E27FC236}">
                <a16:creationId xmlns:a16="http://schemas.microsoft.com/office/drawing/2014/main" id="{36AA4824-C159-EE7D-22FC-C5505EC2CD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AA8CC0-B67E-22B4-B89A-D1D26A3032C1}"/>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2607894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7BE227-FB82-30B7-FA4A-88C5F1EA2A7A}"/>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3" name="Footer Placeholder 2">
            <a:extLst>
              <a:ext uri="{FF2B5EF4-FFF2-40B4-BE49-F238E27FC236}">
                <a16:creationId xmlns:a16="http://schemas.microsoft.com/office/drawing/2014/main" id="{8A537845-6BEF-E9D2-3B40-1EF3B9A925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D7E2D4-5A4C-B43B-A2F9-F8EE9FBC8BCD}"/>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1673747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3D296-F3B7-FFAC-E740-C79A89E195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D862C2-A08D-C8E4-9B0C-AF6ADD0A29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E4B190-9FC7-2897-CBC1-AFFECC8778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1030F0-07F0-2914-FE3D-2BD56891BA49}"/>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6" name="Footer Placeholder 5">
            <a:extLst>
              <a:ext uri="{FF2B5EF4-FFF2-40B4-BE49-F238E27FC236}">
                <a16:creationId xmlns:a16="http://schemas.microsoft.com/office/drawing/2014/main" id="{58FCD1AF-CF68-3BEB-303B-A8BB288EC0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56AC4E-B34B-D17F-228F-0ED95CA08392}"/>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214935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D1FA8-7F49-A131-457D-03C6063EC2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7134F5-D5F9-E0BF-1F48-E492C3A5C0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724A342-B84D-9B1C-A0FC-B625C9CF60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9ED652-30DC-4C4C-297A-85B8B72B1872}"/>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6" name="Footer Placeholder 5">
            <a:extLst>
              <a:ext uri="{FF2B5EF4-FFF2-40B4-BE49-F238E27FC236}">
                <a16:creationId xmlns:a16="http://schemas.microsoft.com/office/drawing/2014/main" id="{B190DC1E-D904-EEEB-C3D2-198389B1AB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CEF54-46CE-58B1-B1F5-56795FAE236D}"/>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874928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F4AD2-E3F1-E476-7FF8-0DD66432EC2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9713E4-4F35-3DD5-D5CE-461E85D676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32C7C4-EDCF-0C12-DAC7-DB938EEBC011}"/>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5" name="Footer Placeholder 4">
            <a:extLst>
              <a:ext uri="{FF2B5EF4-FFF2-40B4-BE49-F238E27FC236}">
                <a16:creationId xmlns:a16="http://schemas.microsoft.com/office/drawing/2014/main" id="{32B5347C-F425-F2C0-CF30-BB98665BE7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134EB1-77B5-7E25-F428-1F87D3707B16}"/>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1813236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68FF74-D03B-3AA2-5ABB-EE478E5550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E62C17-2DB2-D3CE-B89F-E9FDB7FBC6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D12A48-22B6-10A0-AAB4-0181DE684001}"/>
              </a:ext>
            </a:extLst>
          </p:cNvPr>
          <p:cNvSpPr>
            <a:spLocks noGrp="1"/>
          </p:cNvSpPr>
          <p:nvPr>
            <p:ph type="dt" sz="half" idx="10"/>
          </p:nvPr>
        </p:nvSpPr>
        <p:spPr/>
        <p:txBody>
          <a:bodyPr/>
          <a:lstStyle/>
          <a:p>
            <a:fld id="{B40F7DBF-E081-43AC-9BB5-C37C4BA7406D}" type="datetimeFigureOut">
              <a:rPr lang="en-IN" smtClean="0"/>
              <a:t>24-10-2025</a:t>
            </a:fld>
            <a:endParaRPr lang="en-IN"/>
          </a:p>
        </p:txBody>
      </p:sp>
      <p:sp>
        <p:nvSpPr>
          <p:cNvPr id="5" name="Footer Placeholder 4">
            <a:extLst>
              <a:ext uri="{FF2B5EF4-FFF2-40B4-BE49-F238E27FC236}">
                <a16:creationId xmlns:a16="http://schemas.microsoft.com/office/drawing/2014/main" id="{3626D7CB-2C51-CC14-0B52-ABE04CF2E6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6F65DF-E42E-8E14-89CF-2E851665918F}"/>
              </a:ext>
            </a:extLst>
          </p:cNvPr>
          <p:cNvSpPr>
            <a:spLocks noGrp="1"/>
          </p:cNvSpPr>
          <p:nvPr>
            <p:ph type="sldNum" sz="quarter" idx="12"/>
          </p:nvPr>
        </p:nvSpPr>
        <p:spPr/>
        <p:txBody>
          <a:bodyPr/>
          <a:lstStyle/>
          <a:p>
            <a:fld id="{850AE56D-B8E4-44F7-B3E4-70F604838A0C}" type="slidenum">
              <a:rPr lang="en-IN" smtClean="0"/>
              <a:t>‹#›</a:t>
            </a:fld>
            <a:endParaRPr lang="en-IN"/>
          </a:p>
        </p:txBody>
      </p:sp>
    </p:spTree>
    <p:extLst>
      <p:ext uri="{BB962C8B-B14F-4D97-AF65-F5344CB8AC3E}">
        <p14:creationId xmlns:p14="http://schemas.microsoft.com/office/powerpoint/2010/main" val="661909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889E9D-FB23-294A-7DBE-A421F17126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391F2F-3726-EDA5-1F0D-E3DE91FF53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61282F-4508-0EE5-B35D-1AD5666068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0F7DBF-E081-43AC-9BB5-C37C4BA7406D}" type="datetimeFigureOut">
              <a:rPr lang="en-IN" smtClean="0"/>
              <a:t>24-10-2025</a:t>
            </a:fld>
            <a:endParaRPr lang="en-IN"/>
          </a:p>
        </p:txBody>
      </p:sp>
      <p:sp>
        <p:nvSpPr>
          <p:cNvPr id="5" name="Footer Placeholder 4">
            <a:extLst>
              <a:ext uri="{FF2B5EF4-FFF2-40B4-BE49-F238E27FC236}">
                <a16:creationId xmlns:a16="http://schemas.microsoft.com/office/drawing/2014/main" id="{2AA5D27E-50E4-003C-DB9A-9A15744CC8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B8C9F8-B5ED-2AD7-FAA5-D581061249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0AE56D-B8E4-44F7-B3E4-70F604838A0C}" type="slidenum">
              <a:rPr lang="en-IN" smtClean="0"/>
              <a:t>‹#›</a:t>
            </a:fld>
            <a:endParaRPr lang="en-IN"/>
          </a:p>
        </p:txBody>
      </p:sp>
    </p:spTree>
    <p:extLst>
      <p:ext uri="{BB962C8B-B14F-4D97-AF65-F5344CB8AC3E}">
        <p14:creationId xmlns:p14="http://schemas.microsoft.com/office/powerpoint/2010/main" val="31435445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5B6F66-B854-D642-385B-97A9017DCDC7}"/>
              </a:ext>
            </a:extLst>
          </p:cNvPr>
          <p:cNvSpPr txBox="1"/>
          <p:nvPr/>
        </p:nvSpPr>
        <p:spPr>
          <a:xfrm>
            <a:off x="235670" y="480767"/>
            <a:ext cx="11726944" cy="707886"/>
          </a:xfrm>
          <a:prstGeom prst="rect">
            <a:avLst/>
          </a:prstGeom>
          <a:noFill/>
        </p:spPr>
        <p:txBody>
          <a:bodyPr wrap="square" rtlCol="0">
            <a:spAutoFit/>
          </a:bodyPr>
          <a:lstStyle/>
          <a:p>
            <a:r>
              <a:rPr lang="en-IN" sz="4000" b="1" dirty="0"/>
              <a:t>Topic on:-</a:t>
            </a:r>
          </a:p>
        </p:txBody>
      </p:sp>
      <p:pic>
        <p:nvPicPr>
          <p:cNvPr id="4098" name="Picture 2">
            <a:extLst>
              <a:ext uri="{FF2B5EF4-FFF2-40B4-BE49-F238E27FC236}">
                <a16:creationId xmlns:a16="http://schemas.microsoft.com/office/drawing/2014/main" id="{AA811C68-829D-F89D-8553-10B2212F84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682" y="1369293"/>
            <a:ext cx="4901939" cy="308015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B7A16CC-C4D9-8638-93C7-8E1BEFAACA4A}"/>
              </a:ext>
            </a:extLst>
          </p:cNvPr>
          <p:cNvPicPr>
            <a:picLocks noChangeAspect="1"/>
          </p:cNvPicPr>
          <p:nvPr/>
        </p:nvPicPr>
        <p:blipFill>
          <a:blip r:embed="rId3"/>
          <a:stretch>
            <a:fillRect/>
          </a:stretch>
        </p:blipFill>
        <p:spPr>
          <a:xfrm>
            <a:off x="6765302" y="1762811"/>
            <a:ext cx="5197312" cy="2452173"/>
          </a:xfrm>
          <a:prstGeom prst="rect">
            <a:avLst/>
          </a:prstGeom>
        </p:spPr>
      </p:pic>
      <p:sp>
        <p:nvSpPr>
          <p:cNvPr id="5" name="TextBox 4">
            <a:extLst>
              <a:ext uri="{FF2B5EF4-FFF2-40B4-BE49-F238E27FC236}">
                <a16:creationId xmlns:a16="http://schemas.microsoft.com/office/drawing/2014/main" id="{9AAEF9C6-A7D9-A1D4-6392-73B7329AD3A2}"/>
              </a:ext>
            </a:extLst>
          </p:cNvPr>
          <p:cNvSpPr txBox="1"/>
          <p:nvPr/>
        </p:nvSpPr>
        <p:spPr>
          <a:xfrm>
            <a:off x="7946797" y="5335571"/>
            <a:ext cx="3780148" cy="1323439"/>
          </a:xfrm>
          <a:prstGeom prst="rect">
            <a:avLst/>
          </a:prstGeom>
          <a:noFill/>
        </p:spPr>
        <p:txBody>
          <a:bodyPr wrap="square" rtlCol="0">
            <a:spAutoFit/>
          </a:bodyPr>
          <a:lstStyle/>
          <a:p>
            <a:r>
              <a:rPr lang="en-IN" sz="2000" b="1" dirty="0">
                <a:solidFill>
                  <a:schemeClr val="accent1"/>
                </a:solidFill>
              </a:rPr>
              <a:t>		Presented By:-</a:t>
            </a:r>
          </a:p>
          <a:p>
            <a:endParaRPr lang="en-IN" sz="2000" b="1" dirty="0">
              <a:solidFill>
                <a:schemeClr val="accent1"/>
              </a:solidFill>
            </a:endParaRPr>
          </a:p>
          <a:p>
            <a:r>
              <a:rPr lang="en-IN" sz="2000" b="1" dirty="0"/>
              <a:t>		Sai varun Reddy</a:t>
            </a:r>
          </a:p>
          <a:p>
            <a:r>
              <a:rPr lang="en-IN" sz="2000" b="1" dirty="0"/>
              <a:t>		Batch - 15</a:t>
            </a:r>
          </a:p>
        </p:txBody>
      </p:sp>
    </p:spTree>
    <p:extLst>
      <p:ext uri="{BB962C8B-B14F-4D97-AF65-F5344CB8AC3E}">
        <p14:creationId xmlns:p14="http://schemas.microsoft.com/office/powerpoint/2010/main" val="1127515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C086CA-7A04-1523-CFE9-7C846DFE64A4}"/>
              </a:ext>
            </a:extLst>
          </p:cNvPr>
          <p:cNvSpPr txBox="1"/>
          <p:nvPr/>
        </p:nvSpPr>
        <p:spPr>
          <a:xfrm>
            <a:off x="84842" y="75413"/>
            <a:ext cx="11698664" cy="7017306"/>
          </a:xfrm>
          <a:prstGeom prst="rect">
            <a:avLst/>
          </a:prstGeom>
          <a:noFill/>
        </p:spPr>
        <p:txBody>
          <a:bodyPr wrap="square" rtlCol="0">
            <a:spAutoFit/>
          </a:bodyPr>
          <a:lstStyle/>
          <a:p>
            <a:r>
              <a:rPr lang="en-IN" b="1" dirty="0">
                <a:solidFill>
                  <a:schemeClr val="accent1"/>
                </a:solidFill>
              </a:rPr>
              <a:t>AGENDA:-</a:t>
            </a:r>
          </a:p>
          <a:p>
            <a:endParaRPr lang="en-IN" b="1" dirty="0">
              <a:solidFill>
                <a:schemeClr val="accent1"/>
              </a:solidFill>
            </a:endParaRPr>
          </a:p>
          <a:p>
            <a:pPr marL="285750" indent="-285750">
              <a:buFont typeface="Wingdings" panose="05000000000000000000" pitchFamily="2" charset="2"/>
              <a:buChar char="Ø"/>
            </a:pPr>
            <a:r>
              <a:rPr lang="en-IN" b="1" dirty="0"/>
              <a:t>What is SQS?</a:t>
            </a:r>
          </a:p>
          <a:p>
            <a:endParaRPr lang="en-IN" b="1" dirty="0"/>
          </a:p>
          <a:p>
            <a:pPr marL="285750" indent="-285750">
              <a:buFont typeface="Wingdings" panose="05000000000000000000" pitchFamily="2" charset="2"/>
              <a:buChar char="Ø"/>
            </a:pPr>
            <a:r>
              <a:rPr lang="en-IN" b="1" dirty="0"/>
              <a:t>Example for SQS</a:t>
            </a:r>
          </a:p>
          <a:p>
            <a:pPr marL="285750" indent="-285750">
              <a:buFont typeface="Wingdings" panose="05000000000000000000" pitchFamily="2" charset="2"/>
              <a:buChar char="Ø"/>
            </a:pPr>
            <a:endParaRPr lang="en-IN" b="1" dirty="0"/>
          </a:p>
          <a:p>
            <a:pPr marL="285750" indent="-285750">
              <a:buFont typeface="Wingdings" panose="05000000000000000000" pitchFamily="2" charset="2"/>
              <a:buChar char="Ø"/>
            </a:pPr>
            <a:r>
              <a:rPr lang="en-IN" b="1" dirty="0"/>
              <a:t>How it works</a:t>
            </a:r>
          </a:p>
          <a:p>
            <a:pPr marL="285750" indent="-285750">
              <a:buFont typeface="Wingdings" panose="05000000000000000000" pitchFamily="2" charset="2"/>
              <a:buChar char="Ø"/>
            </a:pPr>
            <a:endParaRPr lang="en-IN" b="1" dirty="0"/>
          </a:p>
          <a:p>
            <a:pPr marL="285750" indent="-285750">
              <a:buFont typeface="Wingdings" panose="05000000000000000000" pitchFamily="2" charset="2"/>
              <a:buChar char="Ø"/>
            </a:pPr>
            <a:r>
              <a:rPr lang="en-IN" b="1" dirty="0"/>
              <a:t>Types of queue</a:t>
            </a:r>
          </a:p>
          <a:p>
            <a:pPr marL="285750" indent="-285750">
              <a:buFont typeface="Wingdings" panose="05000000000000000000" pitchFamily="2" charset="2"/>
              <a:buChar char="Ø"/>
            </a:pPr>
            <a:endParaRPr lang="en-IN" b="1" dirty="0"/>
          </a:p>
          <a:p>
            <a:pPr marL="285750" indent="-285750">
              <a:buFont typeface="Wingdings" panose="05000000000000000000" pitchFamily="2" charset="2"/>
              <a:buChar char="Ø"/>
            </a:pPr>
            <a:r>
              <a:rPr lang="en-IN" b="1" dirty="0"/>
              <a:t>How FIFO SQS works</a:t>
            </a:r>
          </a:p>
          <a:p>
            <a:pPr marL="285750" indent="-285750">
              <a:buFont typeface="Wingdings" panose="05000000000000000000" pitchFamily="2" charset="2"/>
              <a:buChar char="Ø"/>
            </a:pPr>
            <a:endParaRPr lang="en-IN" b="1" dirty="0"/>
          </a:p>
          <a:p>
            <a:pPr marL="285750" indent="-285750">
              <a:buFont typeface="Wingdings" panose="05000000000000000000" pitchFamily="2" charset="2"/>
              <a:buChar char="Ø"/>
            </a:pPr>
            <a:r>
              <a:rPr lang="en-IN" b="1" dirty="0"/>
              <a:t>How  Standard SQS works</a:t>
            </a:r>
          </a:p>
          <a:p>
            <a:pPr marL="285750" indent="-285750">
              <a:buFont typeface="Wingdings" panose="05000000000000000000" pitchFamily="2" charset="2"/>
              <a:buChar char="Ø"/>
            </a:pPr>
            <a:endParaRPr lang="en-IN" b="1" dirty="0"/>
          </a:p>
          <a:p>
            <a:pPr marL="285750" indent="-285750">
              <a:buFont typeface="Wingdings" panose="05000000000000000000" pitchFamily="2" charset="2"/>
              <a:buChar char="Ø"/>
            </a:pPr>
            <a:r>
              <a:rPr lang="en-IN" b="1" dirty="0"/>
              <a:t>Advantages &amp; Limitations of SQS</a:t>
            </a:r>
          </a:p>
          <a:p>
            <a:pPr marL="285750" indent="-285750">
              <a:buFont typeface="Wingdings" panose="05000000000000000000" pitchFamily="2" charset="2"/>
              <a:buChar char="Ø"/>
            </a:pPr>
            <a:endParaRPr lang="en-IN" b="1" dirty="0"/>
          </a:p>
          <a:p>
            <a:pPr marL="285750" indent="-285750">
              <a:buFont typeface="Wingdings" panose="05000000000000000000" pitchFamily="2" charset="2"/>
              <a:buChar char="Ø"/>
            </a:pPr>
            <a:r>
              <a:rPr lang="en-IN" b="1" dirty="0"/>
              <a:t>What is MQ?</a:t>
            </a:r>
          </a:p>
          <a:p>
            <a:pPr marL="285750" indent="-285750">
              <a:buFont typeface="Wingdings" panose="05000000000000000000" pitchFamily="2" charset="2"/>
              <a:buChar char="Ø"/>
            </a:pPr>
            <a:endParaRPr lang="en-IN" b="1" dirty="0"/>
          </a:p>
          <a:p>
            <a:pPr marL="285750" indent="-285750">
              <a:buFont typeface="Wingdings" panose="05000000000000000000" pitchFamily="2" charset="2"/>
              <a:buChar char="Ø"/>
            </a:pPr>
            <a:r>
              <a:rPr lang="en-IN" b="1" dirty="0"/>
              <a:t>Example of MQ</a:t>
            </a:r>
          </a:p>
          <a:p>
            <a:pPr marL="285750" indent="-285750">
              <a:buFont typeface="Wingdings" panose="05000000000000000000" pitchFamily="2" charset="2"/>
              <a:buChar char="Ø"/>
            </a:pPr>
            <a:endParaRPr lang="en-IN" b="1" dirty="0"/>
          </a:p>
          <a:p>
            <a:pPr marL="285750" indent="-285750">
              <a:buFont typeface="Wingdings" panose="05000000000000000000" pitchFamily="2" charset="2"/>
              <a:buChar char="Ø"/>
            </a:pPr>
            <a:r>
              <a:rPr lang="en-IN" b="1" dirty="0"/>
              <a:t>Advantages &amp; Limitations of MQ</a:t>
            </a:r>
          </a:p>
          <a:p>
            <a:pPr marL="285750" indent="-285750">
              <a:buFont typeface="Wingdings" panose="05000000000000000000" pitchFamily="2" charset="2"/>
              <a:buChar char="Ø"/>
            </a:pPr>
            <a:endParaRPr lang="en-IN" b="1" dirty="0"/>
          </a:p>
          <a:p>
            <a:pPr marL="285750" indent="-285750">
              <a:buFont typeface="Wingdings" panose="05000000000000000000" pitchFamily="2" charset="2"/>
              <a:buChar char="Ø"/>
            </a:pPr>
            <a:r>
              <a:rPr lang="en-IN" b="1" dirty="0"/>
              <a:t>Difference between SQS &amp; MQ</a:t>
            </a:r>
          </a:p>
          <a:p>
            <a:pPr marL="285750" indent="-285750">
              <a:buFont typeface="Wingdings" panose="05000000000000000000" pitchFamily="2" charset="2"/>
              <a:buChar char="Ø"/>
            </a:pPr>
            <a:endParaRPr lang="en-IN" dirty="0">
              <a:solidFill>
                <a:schemeClr val="accent1"/>
              </a:solidFill>
            </a:endParaRPr>
          </a:p>
          <a:p>
            <a:pPr marL="285750" indent="-285750">
              <a:buFont typeface="Wingdings" panose="05000000000000000000" pitchFamily="2" charset="2"/>
              <a:buChar char="Ø"/>
            </a:pPr>
            <a:endParaRPr lang="en-IN" dirty="0">
              <a:solidFill>
                <a:schemeClr val="accent1"/>
              </a:solidFill>
            </a:endParaRPr>
          </a:p>
        </p:txBody>
      </p:sp>
    </p:spTree>
    <p:extLst>
      <p:ext uri="{BB962C8B-B14F-4D97-AF65-F5344CB8AC3E}">
        <p14:creationId xmlns:p14="http://schemas.microsoft.com/office/powerpoint/2010/main" val="1587102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54EABD6-5B78-D5F6-26BA-F55B313D9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7648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624B2D-3FAE-436B-9E67-21F8F643AF07}"/>
              </a:ext>
            </a:extLst>
          </p:cNvPr>
          <p:cNvSpPr txBox="1"/>
          <p:nvPr/>
        </p:nvSpPr>
        <p:spPr>
          <a:xfrm>
            <a:off x="292231" y="292230"/>
            <a:ext cx="11651530" cy="5509200"/>
          </a:xfrm>
          <a:prstGeom prst="rect">
            <a:avLst/>
          </a:prstGeom>
          <a:noFill/>
        </p:spPr>
        <p:txBody>
          <a:bodyPr wrap="square" rtlCol="0">
            <a:spAutoFit/>
          </a:bodyPr>
          <a:lstStyle/>
          <a:p>
            <a:pPr marL="285750" indent="-285750">
              <a:buFont typeface="Wingdings" panose="05000000000000000000" pitchFamily="2" charset="2"/>
              <a:buChar char="Ø"/>
            </a:pPr>
            <a:r>
              <a:rPr lang="en-US" sz="3200" dirty="0"/>
              <a:t>SQS stands for Simple Queue Service.</a:t>
            </a:r>
          </a:p>
          <a:p>
            <a:pPr marL="285750" indent="-285750">
              <a:buFont typeface="Wingdings" panose="05000000000000000000" pitchFamily="2" charset="2"/>
              <a:buChar char="Ø"/>
            </a:pPr>
            <a:endParaRPr lang="en-US" sz="3200" dirty="0"/>
          </a:p>
          <a:p>
            <a:pPr marL="285750" indent="-285750">
              <a:buFont typeface="Wingdings" panose="05000000000000000000" pitchFamily="2" charset="2"/>
              <a:buChar char="Ø"/>
            </a:pPr>
            <a:r>
              <a:rPr lang="en-US" sz="3200" dirty="0"/>
              <a:t>SQS is a message queuing service.</a:t>
            </a:r>
          </a:p>
          <a:p>
            <a:pPr marL="285750" indent="-285750">
              <a:buFont typeface="Wingdings" panose="05000000000000000000" pitchFamily="2" charset="2"/>
              <a:buChar char="Ø"/>
            </a:pPr>
            <a:endParaRPr lang="en-US" sz="3200" dirty="0"/>
          </a:p>
          <a:p>
            <a:pPr marL="285750" indent="-285750">
              <a:buFont typeface="Wingdings" panose="05000000000000000000" pitchFamily="2" charset="2"/>
              <a:buChar char="Ø"/>
            </a:pPr>
            <a:r>
              <a:rPr lang="en-US" sz="3200" dirty="0"/>
              <a:t>It exchanges and </a:t>
            </a:r>
            <a:r>
              <a:rPr lang="en-US" sz="3200"/>
              <a:t>stores messages.</a:t>
            </a:r>
            <a:endParaRPr lang="en-US" sz="3200" dirty="0"/>
          </a:p>
          <a:p>
            <a:pPr marL="285750" indent="-285750">
              <a:buFont typeface="Wingdings" panose="05000000000000000000" pitchFamily="2" charset="2"/>
              <a:buChar char="Ø"/>
            </a:pPr>
            <a:endParaRPr lang="en-US" sz="3200" dirty="0"/>
          </a:p>
          <a:p>
            <a:pPr marL="285750" indent="-285750">
              <a:buFont typeface="Wingdings" panose="05000000000000000000" pitchFamily="2" charset="2"/>
              <a:buChar char="Ø"/>
            </a:pPr>
            <a:r>
              <a:rPr lang="en-US" sz="3200" dirty="0"/>
              <a:t>The service adds the messages in a queue.</a:t>
            </a:r>
          </a:p>
          <a:p>
            <a:pPr marL="285750" indent="-285750">
              <a:buFont typeface="Wingdings" panose="05000000000000000000" pitchFamily="2" charset="2"/>
              <a:buChar char="Ø"/>
            </a:pPr>
            <a:endParaRPr lang="en-US" sz="3200" dirty="0"/>
          </a:p>
          <a:p>
            <a:pPr marL="285750" indent="-285750">
              <a:buFont typeface="Wingdings" panose="05000000000000000000" pitchFamily="2" charset="2"/>
              <a:buChar char="Ø"/>
            </a:pPr>
            <a:r>
              <a:rPr lang="en-US" sz="3200" dirty="0"/>
              <a:t>Users or services pick up the messages from the queue.</a:t>
            </a:r>
          </a:p>
          <a:p>
            <a:pPr marL="285750" indent="-285750">
              <a:buFont typeface="Wingdings" panose="05000000000000000000" pitchFamily="2" charset="2"/>
              <a:buChar char="Ø"/>
            </a:pPr>
            <a:endParaRPr lang="en-US" sz="3200" dirty="0"/>
          </a:p>
          <a:p>
            <a:pPr marL="285750" indent="-285750">
              <a:buFont typeface="Wingdings" panose="05000000000000000000" pitchFamily="2" charset="2"/>
              <a:buChar char="Ø"/>
            </a:pPr>
            <a:r>
              <a:rPr lang="en-US" sz="3200" dirty="0"/>
              <a:t>Once processed the messages gets deleted from the queue.</a:t>
            </a:r>
            <a:endParaRPr lang="en-IN" sz="3200" dirty="0"/>
          </a:p>
        </p:txBody>
      </p:sp>
    </p:spTree>
    <p:extLst>
      <p:ext uri="{BB962C8B-B14F-4D97-AF65-F5344CB8AC3E}">
        <p14:creationId xmlns:p14="http://schemas.microsoft.com/office/powerpoint/2010/main" val="337824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A879E5-01EE-FCA5-D29A-EBA0379BA743}"/>
              </a:ext>
            </a:extLst>
          </p:cNvPr>
          <p:cNvSpPr txBox="1"/>
          <p:nvPr/>
        </p:nvSpPr>
        <p:spPr>
          <a:xfrm>
            <a:off x="84842" y="113122"/>
            <a:ext cx="12107158" cy="6832640"/>
          </a:xfrm>
          <a:prstGeom prst="rect">
            <a:avLst/>
          </a:prstGeom>
          <a:noFill/>
        </p:spPr>
        <p:txBody>
          <a:bodyPr wrap="square" rtlCol="0">
            <a:spAutoFit/>
          </a:bodyPr>
          <a:lstStyle/>
          <a:p>
            <a:r>
              <a:rPr lang="en-US" sz="2000" b="1" dirty="0"/>
              <a:t>Example: Food Delivery Application (Using AWS SQS):-</a:t>
            </a:r>
          </a:p>
          <a:p>
            <a:endParaRPr lang="en-US" sz="2000" b="1" dirty="0"/>
          </a:p>
          <a:p>
            <a:r>
              <a:rPr lang="en-US" sz="2000" dirty="0"/>
              <a:t>1. Order Placed</a:t>
            </a:r>
          </a:p>
          <a:p>
            <a:pPr marL="285750" indent="-285750">
              <a:buFont typeface="Wingdings" panose="05000000000000000000" pitchFamily="2" charset="2"/>
              <a:buChar char="Ø"/>
            </a:pPr>
            <a:endParaRPr lang="en-US" sz="2000" dirty="0"/>
          </a:p>
          <a:p>
            <a:r>
              <a:rPr lang="en-US" sz="2000" dirty="0"/>
              <a:t>	User places an order.</a:t>
            </a:r>
          </a:p>
          <a:p>
            <a:pPr marL="285750" indent="-285750">
              <a:buFont typeface="Wingdings" panose="05000000000000000000" pitchFamily="2" charset="2"/>
              <a:buChar char="Ø"/>
            </a:pPr>
            <a:endParaRPr lang="en-US" sz="2000" dirty="0"/>
          </a:p>
          <a:p>
            <a:r>
              <a:rPr lang="en-US" sz="2000" dirty="0"/>
              <a:t>	Order Service sends message → “New order created” → SQS Queue: OrderQueue</a:t>
            </a:r>
          </a:p>
          <a:p>
            <a:pPr marL="285750" indent="-285750">
              <a:buFont typeface="Wingdings" panose="05000000000000000000" pitchFamily="2" charset="2"/>
              <a:buChar char="Ø"/>
            </a:pPr>
            <a:endParaRPr lang="en-US" sz="2000" dirty="0"/>
          </a:p>
          <a:p>
            <a:r>
              <a:rPr lang="en-US" sz="2000" dirty="0"/>
              <a:t>2.Payment Service Reads Message</a:t>
            </a:r>
          </a:p>
          <a:p>
            <a:pPr marL="285750" indent="-285750">
              <a:buFont typeface="Wingdings" panose="05000000000000000000" pitchFamily="2" charset="2"/>
              <a:buChar char="Ø"/>
            </a:pPr>
            <a:endParaRPr lang="en-US" sz="2000" dirty="0"/>
          </a:p>
          <a:p>
            <a:r>
              <a:rPr lang="en-US" sz="2000" dirty="0"/>
              <a:t>	Payment Service polls (reads) messages from OrderQueue.</a:t>
            </a:r>
          </a:p>
          <a:p>
            <a:pPr marL="285750" indent="-285750">
              <a:buFont typeface="Wingdings" panose="05000000000000000000" pitchFamily="2" charset="2"/>
              <a:buChar char="Ø"/>
            </a:pPr>
            <a:endParaRPr lang="en-US" sz="2000" dirty="0"/>
          </a:p>
          <a:p>
            <a:r>
              <a:rPr lang="en-US" sz="2000" dirty="0"/>
              <a:t>	It processes payment and sends new message → “Payment successful” → SQS Queue: PaymentQueue</a:t>
            </a:r>
          </a:p>
          <a:p>
            <a:pPr marL="285750" indent="-285750">
              <a:buFont typeface="Wingdings" panose="05000000000000000000" pitchFamily="2" charset="2"/>
              <a:buChar char="Ø"/>
            </a:pPr>
            <a:endParaRPr lang="en-US" sz="2000" dirty="0"/>
          </a:p>
          <a:p>
            <a:r>
              <a:rPr lang="en-US" sz="2000" dirty="0"/>
              <a:t>3.Notification Service</a:t>
            </a:r>
          </a:p>
          <a:p>
            <a:pPr marL="285750" indent="-285750">
              <a:buFont typeface="Wingdings" panose="05000000000000000000" pitchFamily="2" charset="2"/>
              <a:buChar char="Ø"/>
            </a:pPr>
            <a:endParaRPr lang="en-US" sz="2000" dirty="0"/>
          </a:p>
          <a:p>
            <a:r>
              <a:rPr lang="en-US" sz="2000" dirty="0"/>
              <a:t>	Reads from PaymentQueue → sends SMS/email confirmation.</a:t>
            </a:r>
          </a:p>
          <a:p>
            <a:pPr marL="285750" indent="-285750">
              <a:buFont typeface="Wingdings" panose="05000000000000000000" pitchFamily="2" charset="2"/>
              <a:buChar char="Ø"/>
            </a:pPr>
            <a:endParaRPr lang="en-US" sz="2000" dirty="0"/>
          </a:p>
          <a:p>
            <a:r>
              <a:rPr lang="en-US" sz="2000" dirty="0"/>
              <a:t>4.Delivery Service</a:t>
            </a:r>
          </a:p>
          <a:p>
            <a:pPr marL="285750" indent="-285750">
              <a:buFont typeface="Wingdings" panose="05000000000000000000" pitchFamily="2" charset="2"/>
              <a:buChar char="Ø"/>
            </a:pPr>
            <a:endParaRPr lang="en-US" sz="2000" dirty="0"/>
          </a:p>
          <a:p>
            <a:r>
              <a:rPr lang="en-US" sz="2000" dirty="0"/>
              <a:t>	Also reads from PaymentQueue → assigns delivery partner.</a:t>
            </a:r>
            <a:br>
              <a:rPr lang="en-US" dirty="0"/>
            </a:br>
            <a:endParaRPr lang="en-IN" dirty="0"/>
          </a:p>
        </p:txBody>
      </p:sp>
      <p:pic>
        <p:nvPicPr>
          <p:cNvPr id="6" name="Picture 5">
            <a:extLst>
              <a:ext uri="{FF2B5EF4-FFF2-40B4-BE49-F238E27FC236}">
                <a16:creationId xmlns:a16="http://schemas.microsoft.com/office/drawing/2014/main" id="{96C5B5BB-47D4-DEB9-65E1-B43711C52163}"/>
              </a:ext>
            </a:extLst>
          </p:cNvPr>
          <p:cNvPicPr>
            <a:picLocks noChangeAspect="1"/>
          </p:cNvPicPr>
          <p:nvPr/>
        </p:nvPicPr>
        <p:blipFill>
          <a:blip r:embed="rId2"/>
          <a:stretch>
            <a:fillRect/>
          </a:stretch>
        </p:blipFill>
        <p:spPr>
          <a:xfrm>
            <a:off x="9615340" y="113122"/>
            <a:ext cx="2491818" cy="1827974"/>
          </a:xfrm>
          <a:prstGeom prst="rect">
            <a:avLst/>
          </a:prstGeom>
        </p:spPr>
      </p:pic>
    </p:spTree>
    <p:extLst>
      <p:ext uri="{BB962C8B-B14F-4D97-AF65-F5344CB8AC3E}">
        <p14:creationId xmlns:p14="http://schemas.microsoft.com/office/powerpoint/2010/main" val="1578069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C385-6BF6-C129-F45D-11EEAC45D776}"/>
              </a:ext>
            </a:extLst>
          </p:cNvPr>
          <p:cNvPicPr>
            <a:picLocks noChangeAspect="1"/>
          </p:cNvPicPr>
          <p:nvPr/>
        </p:nvPicPr>
        <p:blipFill>
          <a:blip r:embed="rId2"/>
          <a:stretch>
            <a:fillRect/>
          </a:stretch>
        </p:blipFill>
        <p:spPr>
          <a:xfrm>
            <a:off x="103696" y="358219"/>
            <a:ext cx="11929206" cy="6325386"/>
          </a:xfrm>
          <a:prstGeom prst="rect">
            <a:avLst/>
          </a:prstGeom>
        </p:spPr>
      </p:pic>
    </p:spTree>
    <p:extLst>
      <p:ext uri="{BB962C8B-B14F-4D97-AF65-F5344CB8AC3E}">
        <p14:creationId xmlns:p14="http://schemas.microsoft.com/office/powerpoint/2010/main" val="4121470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0DAE4-2350-EBEA-568B-DCB164DC0FA6}"/>
              </a:ext>
            </a:extLst>
          </p:cNvPr>
          <p:cNvPicPr>
            <a:picLocks noChangeAspect="1"/>
          </p:cNvPicPr>
          <p:nvPr/>
        </p:nvPicPr>
        <p:blipFill>
          <a:blip r:embed="rId2"/>
          <a:stretch>
            <a:fillRect/>
          </a:stretch>
        </p:blipFill>
        <p:spPr>
          <a:xfrm>
            <a:off x="237272" y="174978"/>
            <a:ext cx="11621647" cy="3254022"/>
          </a:xfrm>
          <a:prstGeom prst="rect">
            <a:avLst/>
          </a:prstGeom>
        </p:spPr>
      </p:pic>
      <p:sp>
        <p:nvSpPr>
          <p:cNvPr id="5" name="TextBox 4">
            <a:extLst>
              <a:ext uri="{FF2B5EF4-FFF2-40B4-BE49-F238E27FC236}">
                <a16:creationId xmlns:a16="http://schemas.microsoft.com/office/drawing/2014/main" id="{385F8C89-BF01-F93D-8AA6-14C685E0AAC1}"/>
              </a:ext>
            </a:extLst>
          </p:cNvPr>
          <p:cNvSpPr txBox="1"/>
          <p:nvPr/>
        </p:nvSpPr>
        <p:spPr>
          <a:xfrm>
            <a:off x="6627043" y="3613772"/>
            <a:ext cx="4984422" cy="2249334"/>
          </a:xfrm>
          <a:prstGeom prst="rect">
            <a:avLst/>
          </a:prstGeom>
          <a:noFill/>
        </p:spPr>
        <p:txBody>
          <a:bodyPr wrap="square">
            <a:spAutoFit/>
          </a:bodyPr>
          <a:lstStyle/>
          <a:p>
            <a:pPr algn="l">
              <a:lnSpc>
                <a:spcPts val="1650"/>
              </a:lnSpc>
              <a:buNone/>
            </a:pPr>
            <a:r>
              <a:rPr lang="en-US" b="1" i="0" dirty="0">
                <a:solidFill>
                  <a:srgbClr val="0F141A"/>
                </a:solidFill>
                <a:effectLst/>
                <a:latin typeface="Amazon Ember"/>
              </a:rPr>
              <a:t>FIFO queue</a:t>
            </a:r>
          </a:p>
          <a:p>
            <a:pPr algn="l">
              <a:buNone/>
            </a:pPr>
            <a:r>
              <a:rPr lang="en-US" b="0" i="0" u="none" strike="noStrike" dirty="0">
                <a:solidFill>
                  <a:srgbClr val="424650"/>
                </a:solidFill>
                <a:effectLst/>
                <a:latin typeface="Amazon Ember"/>
              </a:rPr>
              <a:t>FIFO queues support up to 3000 messages per second, each message is delivered exactly once, and message order is preserved. FIFO queues are designed to enhance messaging between applications when the order of operations and events is critical, or where duplicates can't be tolerated. </a:t>
            </a:r>
            <a:endParaRPr lang="en-US" b="0" i="0" dirty="0">
              <a:solidFill>
                <a:srgbClr val="424650"/>
              </a:solidFill>
              <a:effectLst/>
              <a:latin typeface="Amazon Ember"/>
            </a:endParaRPr>
          </a:p>
        </p:txBody>
      </p:sp>
      <p:sp>
        <p:nvSpPr>
          <p:cNvPr id="7" name="TextBox 6">
            <a:extLst>
              <a:ext uri="{FF2B5EF4-FFF2-40B4-BE49-F238E27FC236}">
                <a16:creationId xmlns:a16="http://schemas.microsoft.com/office/drawing/2014/main" id="{F1C2AC69-2680-0A80-A738-99E46F018774}"/>
              </a:ext>
            </a:extLst>
          </p:cNvPr>
          <p:cNvSpPr txBox="1"/>
          <p:nvPr/>
        </p:nvSpPr>
        <p:spPr>
          <a:xfrm>
            <a:off x="237272" y="3602692"/>
            <a:ext cx="6094428" cy="2862322"/>
          </a:xfrm>
          <a:prstGeom prst="rect">
            <a:avLst/>
          </a:prstGeom>
          <a:noFill/>
        </p:spPr>
        <p:txBody>
          <a:bodyPr wrap="square">
            <a:spAutoFit/>
          </a:bodyPr>
          <a:lstStyle/>
          <a:p>
            <a:r>
              <a:rPr lang="en-US" b="1" dirty="0">
                <a:solidFill>
                  <a:srgbClr val="0F141A"/>
                </a:solidFill>
                <a:latin typeface="Amazon Ember"/>
              </a:rPr>
              <a:t>Standard queue</a:t>
            </a:r>
            <a:endParaRPr lang="en-US" b="0" i="0" u="none" strike="noStrike" dirty="0">
              <a:solidFill>
                <a:srgbClr val="424650"/>
              </a:solidFill>
              <a:effectLst/>
              <a:latin typeface="Amazon Ember"/>
            </a:endParaRPr>
          </a:p>
          <a:p>
            <a:pPr algn="l">
              <a:buNone/>
            </a:pPr>
            <a:r>
              <a:rPr lang="en-US" b="0" i="0" u="none" strike="noStrike" dirty="0">
                <a:solidFill>
                  <a:srgbClr val="424650"/>
                </a:solidFill>
                <a:effectLst/>
                <a:latin typeface="Amazon Ember"/>
              </a:rPr>
              <a:t>Standard queues support a nearly unlimited number of transactions per second (TPS) per API action (</a:t>
            </a:r>
            <a:r>
              <a:rPr lang="en-US" b="0" i="0" u="none" strike="noStrike" dirty="0" err="1">
                <a:solidFill>
                  <a:srgbClr val="424650"/>
                </a:solidFill>
                <a:effectLst/>
                <a:latin typeface="Amazon Ember"/>
              </a:rPr>
              <a:t>SendMessage</a:t>
            </a:r>
            <a:r>
              <a:rPr lang="en-US" b="0" i="0" u="none" strike="noStrike" dirty="0">
                <a:solidFill>
                  <a:srgbClr val="424650"/>
                </a:solidFill>
                <a:effectLst/>
                <a:latin typeface="Amazon Ember"/>
              </a:rPr>
              <a:t>, </a:t>
            </a:r>
            <a:r>
              <a:rPr lang="en-US" b="0" i="0" u="none" strike="noStrike" dirty="0" err="1">
                <a:solidFill>
                  <a:srgbClr val="424650"/>
                </a:solidFill>
                <a:effectLst/>
                <a:latin typeface="Amazon Ember"/>
              </a:rPr>
              <a:t>ReceiveMessage</a:t>
            </a:r>
            <a:r>
              <a:rPr lang="en-US" b="0" i="0" u="none" strike="noStrike" dirty="0">
                <a:solidFill>
                  <a:srgbClr val="424650"/>
                </a:solidFill>
                <a:effectLst/>
                <a:latin typeface="Amazon Ember"/>
              </a:rPr>
              <a:t>, or </a:t>
            </a:r>
            <a:r>
              <a:rPr lang="en-US" b="0" i="0" u="none" strike="noStrike" dirty="0" err="1">
                <a:solidFill>
                  <a:srgbClr val="424650"/>
                </a:solidFill>
                <a:effectLst/>
                <a:latin typeface="Amazon Ember"/>
              </a:rPr>
              <a:t>DeleteMessage</a:t>
            </a:r>
            <a:r>
              <a:rPr lang="en-US" b="0" i="0" u="none" strike="noStrike" dirty="0">
                <a:solidFill>
                  <a:srgbClr val="424650"/>
                </a:solidFill>
                <a:effectLst/>
                <a:latin typeface="Amazon Ember"/>
              </a:rPr>
              <a:t>). A message is delivered at least once, but occasionally more than one copy of a message is delivered. Standard queues provide best-effort ordering. Occasionally, messages might be delivered in an order different from which they were sent.</a:t>
            </a:r>
          </a:p>
          <a:p>
            <a:pPr>
              <a:buNone/>
            </a:pPr>
            <a:br>
              <a:rPr lang="en-US" dirty="0"/>
            </a:br>
            <a:endParaRPr lang="en-IN" dirty="0"/>
          </a:p>
        </p:txBody>
      </p:sp>
    </p:spTree>
    <p:extLst>
      <p:ext uri="{BB962C8B-B14F-4D97-AF65-F5344CB8AC3E}">
        <p14:creationId xmlns:p14="http://schemas.microsoft.com/office/powerpoint/2010/main" val="4274540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3B4FC3-1F36-196E-D16F-D684EFEE08C3}"/>
              </a:ext>
            </a:extLst>
          </p:cNvPr>
          <p:cNvPicPr>
            <a:picLocks noChangeAspect="1"/>
          </p:cNvPicPr>
          <p:nvPr/>
        </p:nvPicPr>
        <p:blipFill>
          <a:blip r:embed="rId2"/>
          <a:stretch>
            <a:fillRect/>
          </a:stretch>
        </p:blipFill>
        <p:spPr>
          <a:xfrm>
            <a:off x="84840" y="103696"/>
            <a:ext cx="11990895" cy="6297104"/>
          </a:xfrm>
          <a:prstGeom prst="rect">
            <a:avLst/>
          </a:prstGeom>
        </p:spPr>
      </p:pic>
    </p:spTree>
    <p:extLst>
      <p:ext uri="{BB962C8B-B14F-4D97-AF65-F5344CB8AC3E}">
        <p14:creationId xmlns:p14="http://schemas.microsoft.com/office/powerpoint/2010/main" val="1929816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71EB18-950F-DDF7-54C4-823A5963EF38}"/>
              </a:ext>
            </a:extLst>
          </p:cNvPr>
          <p:cNvSpPr>
            <a:spLocks noChangeArrowheads="1"/>
          </p:cNvSpPr>
          <p:nvPr/>
        </p:nvSpPr>
        <p:spPr bwMode="auto">
          <a:xfrm>
            <a:off x="235670" y="542689"/>
            <a:ext cx="11472421"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effectLst/>
                <a:latin typeface="Arial" panose="020B0604020202020204" pitchFamily="34" charset="0"/>
                <a:cs typeface="Arial" panose="020B0604020202020204" pitchFamily="34" charset="0"/>
              </a:rPr>
              <a:t>🎬 Scenario: Online Ticket Booking System</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chemeClr val="accent1"/>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accent1"/>
                </a:solidFill>
                <a:effectLst/>
                <a:latin typeface="Arial" panose="020B0604020202020204" pitchFamily="34" charset="0"/>
                <a:cs typeface="Arial" panose="020B0604020202020204" pitchFamily="34" charset="0"/>
              </a:rPr>
              <a:t>How FIFO SQS </a:t>
            </a:r>
            <a:r>
              <a:rPr lang="en-US" altLang="en-US" dirty="0">
                <a:solidFill>
                  <a:schemeClr val="accent1"/>
                </a:solidFill>
                <a:cs typeface="Arial" panose="020B0604020202020204" pitchFamily="34" charset="0"/>
              </a:rPr>
              <a:t>works:-</a:t>
            </a:r>
            <a:endParaRPr kumimoji="0" lang="en-US" altLang="en-US" sz="1800" b="0" i="0" u="none" strike="noStrike" cap="none" normalizeH="0" baseline="0" dirty="0">
              <a:ln>
                <a:noFill/>
              </a:ln>
              <a:solidFill>
                <a:schemeClr val="accent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US" altLang="en-US"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User A, User B, and User C all try to book the same seat at 10:00:00.</a:t>
            </a:r>
            <a:endParaRPr lang="en-US" altLang="en-US" dirty="0">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2. Their booking requests go into the FIFO SQS queue in this order:</a:t>
            </a:r>
            <a:r>
              <a:rPr lang="en-US" altLang="en-US" dirty="0"/>
              <a:t> </a:t>
            </a: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A → B → 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3. The backend server (consumer) processes requests in exactly that order.</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b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A’s booking is processed first → seat gets reserved.</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When B’s request comes next → system sees seat is taken → sends “Seat Unavailable”.</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C’s request is processed last → same result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No duplicate bookings</a:t>
            </a:r>
            <a:endParaRPr lang="en-US" altLang="en-US" dirty="0"/>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rgbClr val="222222"/>
                </a:solidFill>
                <a:effectLst/>
                <a:latin typeface="Arial" panose="020B0604020202020204" pitchFamily="34" charset="0"/>
                <a:cs typeface="Arial" panose="020B0604020202020204" pitchFamily="34" charset="0"/>
              </a:rPr>
              <a:t> Exact order maintained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3244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453F3F-6203-B654-1949-CFEBF8F45DDE}"/>
              </a:ext>
            </a:extLst>
          </p:cNvPr>
          <p:cNvSpPr txBox="1"/>
          <p:nvPr/>
        </p:nvSpPr>
        <p:spPr>
          <a:xfrm>
            <a:off x="91125" y="225626"/>
            <a:ext cx="11783505" cy="6463308"/>
          </a:xfrm>
          <a:prstGeom prst="rect">
            <a:avLst/>
          </a:prstGeom>
          <a:noFill/>
        </p:spPr>
        <p:txBody>
          <a:bodyPr wrap="square">
            <a:spAutoFit/>
          </a:bodyPr>
          <a:lstStyle/>
          <a:p>
            <a:pPr>
              <a:buNone/>
            </a:pPr>
            <a:r>
              <a:rPr lang="en-US" b="0" i="0" dirty="0">
                <a:solidFill>
                  <a:schemeClr val="accent1"/>
                </a:solidFill>
                <a:effectLst/>
                <a:latin typeface="Arial" panose="020B0604020202020204" pitchFamily="34" charset="0"/>
              </a:rPr>
              <a:t>How standard SQS works:-</a:t>
            </a:r>
          </a:p>
          <a:p>
            <a:pPr>
              <a:buNone/>
            </a:pPr>
            <a:endParaRPr lang="en-US" dirty="0">
              <a:solidFill>
                <a:schemeClr val="accent1"/>
              </a:solidFill>
            </a:endParaRPr>
          </a:p>
          <a:p>
            <a:pPr marL="342900" indent="-342900" algn="l">
              <a:buAutoNum type="arabicPeriod"/>
            </a:pPr>
            <a:r>
              <a:rPr lang="en-US" b="0" i="0" dirty="0">
                <a:solidFill>
                  <a:srgbClr val="222222"/>
                </a:solidFill>
                <a:effectLst/>
                <a:latin typeface="Arial" panose="020B0604020202020204" pitchFamily="34" charset="0"/>
              </a:rPr>
              <a:t>Users A, B, and C all try to book different seats — A1, A2, and A3 — at the same time.</a:t>
            </a:r>
          </a:p>
          <a:p>
            <a:pPr algn="l"/>
            <a:endParaRPr lang="en-US" b="0" i="0" dirty="0">
              <a:solidFill>
                <a:srgbClr val="222222"/>
              </a:solidFill>
              <a:effectLst/>
              <a:latin typeface="Arial" panose="020B0604020202020204" pitchFamily="34" charset="0"/>
            </a:endParaRPr>
          </a:p>
          <a:p>
            <a:pPr algn="l">
              <a:buNone/>
            </a:pPr>
            <a:r>
              <a:rPr lang="en-US" b="0" i="0" dirty="0">
                <a:solidFill>
                  <a:srgbClr val="222222"/>
                </a:solidFill>
                <a:effectLst/>
                <a:latin typeface="Arial" panose="020B0604020202020204" pitchFamily="34" charset="0"/>
              </a:rPr>
              <a:t>2. All requests are sent to the Standard SQS queue.</a:t>
            </a:r>
          </a:p>
          <a:p>
            <a:pPr algn="l">
              <a:buNone/>
            </a:pPr>
            <a:endParaRPr lang="en-US" b="0" i="0" dirty="0">
              <a:solidFill>
                <a:srgbClr val="222222"/>
              </a:solidFill>
              <a:effectLst/>
              <a:latin typeface="Arial" panose="020B0604020202020204" pitchFamily="34" charset="0"/>
            </a:endParaRPr>
          </a:p>
          <a:p>
            <a:pPr algn="l">
              <a:buNone/>
            </a:pPr>
            <a:r>
              <a:rPr lang="en-US" b="0" i="0" dirty="0">
                <a:solidFill>
                  <a:srgbClr val="222222"/>
                </a:solidFill>
                <a:effectLst/>
                <a:latin typeface="Arial" panose="020B0604020202020204" pitchFamily="34" charset="0"/>
              </a:rPr>
              <a:t>3. The backend system (consumers) reads the messages and processes them as quickly as possible, but order isn’t guaranteed.</a:t>
            </a:r>
          </a:p>
          <a:p>
            <a:pPr algn="l">
              <a:buNone/>
            </a:pPr>
            <a:br>
              <a:rPr lang="en-US" b="0" i="0" dirty="0">
                <a:solidFill>
                  <a:srgbClr val="222222"/>
                </a:solidFill>
                <a:effectLst/>
                <a:latin typeface="Arial" panose="020B0604020202020204" pitchFamily="34" charset="0"/>
              </a:rPr>
            </a:br>
            <a:endParaRPr lang="en-US" b="0" i="0" dirty="0">
              <a:solidFill>
                <a:srgbClr val="222222"/>
              </a:solidFill>
              <a:effectLst/>
              <a:latin typeface="Arial" panose="020B0604020202020204" pitchFamily="34" charset="0"/>
            </a:endParaRPr>
          </a:p>
          <a:p>
            <a:pPr algn="l">
              <a:buNone/>
            </a:pPr>
            <a:r>
              <a:rPr lang="en-US" b="0" i="0" dirty="0">
                <a:solidFill>
                  <a:srgbClr val="222222"/>
                </a:solidFill>
                <a:effectLst/>
                <a:latin typeface="Arial" panose="020B0604020202020204" pitchFamily="34" charset="0"/>
              </a:rPr>
              <a:t>Possible Message Order</a:t>
            </a:r>
          </a:p>
          <a:p>
            <a:pPr algn="l">
              <a:buNone/>
            </a:pPr>
            <a:endParaRPr lang="en-US" b="0" i="0" dirty="0">
              <a:solidFill>
                <a:srgbClr val="222222"/>
              </a:solidFill>
              <a:effectLst/>
              <a:latin typeface="Arial" panose="020B0604020202020204" pitchFamily="34" charset="0"/>
            </a:endParaRPr>
          </a:p>
          <a:p>
            <a:pPr algn="l">
              <a:buNone/>
            </a:pPr>
            <a:r>
              <a:rPr lang="en-US" b="0" i="0" dirty="0">
                <a:solidFill>
                  <a:srgbClr val="222222"/>
                </a:solidFill>
                <a:effectLst/>
                <a:latin typeface="Arial" panose="020B0604020202020204" pitchFamily="34" charset="0"/>
              </a:rPr>
              <a:t>If messages entered as: A → B → C</a:t>
            </a:r>
          </a:p>
          <a:p>
            <a:pPr algn="l">
              <a:buNone/>
            </a:pPr>
            <a:endParaRPr lang="en-US" b="0" i="0" dirty="0">
              <a:solidFill>
                <a:srgbClr val="222222"/>
              </a:solidFill>
              <a:effectLst/>
              <a:latin typeface="Arial" panose="020B0604020202020204" pitchFamily="34" charset="0"/>
            </a:endParaRPr>
          </a:p>
          <a:p>
            <a:pPr algn="l">
              <a:buNone/>
            </a:pPr>
            <a:r>
              <a:rPr lang="en-US" b="0" i="0" dirty="0">
                <a:solidFill>
                  <a:srgbClr val="222222"/>
                </a:solidFill>
                <a:effectLst/>
                <a:latin typeface="Arial" panose="020B0604020202020204" pitchFamily="34" charset="0"/>
              </a:rPr>
              <a:t>They might be processed as: B → A → C (out of order)</a:t>
            </a:r>
          </a:p>
          <a:p>
            <a:pPr algn="l">
              <a:buNone/>
            </a:pPr>
            <a:endParaRPr lang="en-US" b="0" i="0" dirty="0">
              <a:solidFill>
                <a:srgbClr val="222222"/>
              </a:solidFill>
              <a:effectLst/>
              <a:latin typeface="Arial" panose="020B0604020202020204" pitchFamily="34" charset="0"/>
            </a:endParaRPr>
          </a:p>
          <a:p>
            <a:pPr algn="l">
              <a:buNone/>
            </a:pPr>
            <a:r>
              <a:rPr lang="en-US" b="0" i="0" dirty="0">
                <a:solidFill>
                  <a:srgbClr val="222222"/>
                </a:solidFill>
                <a:effectLst/>
                <a:latin typeface="Arial" panose="020B0604020202020204" pitchFamily="34" charset="0"/>
              </a:rPr>
              <a:t>This happens because Standard queues focus on speed and scalability, not order.</a:t>
            </a:r>
          </a:p>
          <a:p>
            <a:pPr algn="l">
              <a:buNone/>
            </a:pPr>
            <a:endParaRPr lang="en-US" b="0" i="0" dirty="0">
              <a:solidFill>
                <a:srgbClr val="222222"/>
              </a:solidFill>
              <a:effectLst/>
              <a:latin typeface="Arial" panose="020B0604020202020204" pitchFamily="34" charset="0"/>
            </a:endParaRPr>
          </a:p>
          <a:p>
            <a:pPr algn="l">
              <a:buNone/>
            </a:pPr>
            <a:r>
              <a:rPr lang="en-US" b="0" i="0" dirty="0">
                <a:solidFill>
                  <a:srgbClr val="222222"/>
                </a:solidFill>
                <a:effectLst/>
                <a:latin typeface="Arial" panose="020B0604020202020204" pitchFamily="34" charset="0"/>
              </a:rPr>
              <a:t>What Happens in Real Life:-</a:t>
            </a:r>
          </a:p>
          <a:p>
            <a:pPr algn="l">
              <a:buNone/>
            </a:pPr>
            <a:r>
              <a:rPr lang="en-US" b="0" i="0" dirty="0">
                <a:solidFill>
                  <a:srgbClr val="222222"/>
                </a:solidFill>
                <a:effectLst/>
                <a:latin typeface="Arial" panose="020B0604020202020204" pitchFamily="34" charset="0"/>
              </a:rPr>
              <a:t>For different seats, this is perfectly fine — no harm if seat A2 is booked before A1.</a:t>
            </a:r>
          </a:p>
          <a:p>
            <a:pPr algn="l">
              <a:buNone/>
            </a:pPr>
            <a:endParaRPr lang="en-US" b="0" i="0" dirty="0">
              <a:solidFill>
                <a:srgbClr val="222222"/>
              </a:solidFill>
              <a:effectLst/>
              <a:latin typeface="Arial" panose="020B0604020202020204" pitchFamily="34" charset="0"/>
            </a:endParaRPr>
          </a:p>
          <a:p>
            <a:pPr algn="l">
              <a:buNone/>
            </a:pPr>
            <a:r>
              <a:rPr lang="en-US" b="0" i="0" dirty="0">
                <a:solidFill>
                  <a:srgbClr val="222222"/>
                </a:solidFill>
                <a:effectLst/>
                <a:latin typeface="Arial" panose="020B0604020202020204" pitchFamily="34" charset="0"/>
              </a:rPr>
              <a:t>But if multiple users try to book the same seat (A1), there’s a small chance that duplicate booking requests might be processed simultaneously because Standard SQS guarantees at-least-once delivery, not exactly-once</a:t>
            </a:r>
          </a:p>
        </p:txBody>
      </p:sp>
    </p:spTree>
    <p:extLst>
      <p:ext uri="{BB962C8B-B14F-4D97-AF65-F5344CB8AC3E}">
        <p14:creationId xmlns:p14="http://schemas.microsoft.com/office/powerpoint/2010/main" val="3711860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928C04-03F9-2E50-25A3-8948AF84D5B9}"/>
              </a:ext>
            </a:extLst>
          </p:cNvPr>
          <p:cNvSpPr txBox="1"/>
          <p:nvPr/>
        </p:nvSpPr>
        <p:spPr>
          <a:xfrm>
            <a:off x="138260" y="188536"/>
            <a:ext cx="11915480" cy="6555641"/>
          </a:xfrm>
          <a:prstGeom prst="rect">
            <a:avLst/>
          </a:prstGeom>
          <a:noFill/>
        </p:spPr>
        <p:txBody>
          <a:bodyPr wrap="square" rtlCol="0">
            <a:spAutoFit/>
          </a:bodyPr>
          <a:lstStyle/>
          <a:p>
            <a:r>
              <a:rPr lang="en-US" sz="2000" b="1" dirty="0"/>
              <a:t> Advantages of Amazon SQS:-</a:t>
            </a:r>
          </a:p>
          <a:p>
            <a:pPr marL="285750" indent="-285750">
              <a:buFont typeface="Wingdings" panose="05000000000000000000" pitchFamily="2" charset="2"/>
              <a:buChar char="Ø"/>
            </a:pPr>
            <a:r>
              <a:rPr lang="en-US" sz="2000" dirty="0"/>
              <a:t>Fully managed – No need to manage .</a:t>
            </a:r>
          </a:p>
          <a:p>
            <a:endParaRPr lang="en-US" sz="2000" dirty="0"/>
          </a:p>
          <a:p>
            <a:pPr marL="285750" indent="-285750">
              <a:buFont typeface="Wingdings" panose="05000000000000000000" pitchFamily="2" charset="2"/>
              <a:buChar char="Ø"/>
            </a:pPr>
            <a:r>
              <a:rPr lang="en-US" sz="2000" dirty="0"/>
              <a:t>Scalable – Handles any number of messages easily.</a:t>
            </a:r>
          </a:p>
          <a:p>
            <a:endParaRPr lang="en-US" sz="2000" dirty="0"/>
          </a:p>
          <a:p>
            <a:pPr marL="285750" indent="-285750">
              <a:buFont typeface="Wingdings" panose="05000000000000000000" pitchFamily="2" charset="2"/>
              <a:buChar char="Ø"/>
            </a:pPr>
            <a:r>
              <a:rPr lang="en-US" sz="2000" dirty="0"/>
              <a:t>Reliable – Messages are safely stored and never lost.</a:t>
            </a:r>
          </a:p>
          <a:p>
            <a:endParaRPr lang="en-US" sz="2000" dirty="0"/>
          </a:p>
          <a:p>
            <a:pPr marL="285750" indent="-285750">
              <a:buFont typeface="Wingdings" panose="05000000000000000000" pitchFamily="2" charset="2"/>
              <a:buChar char="Ø"/>
            </a:pPr>
            <a:r>
              <a:rPr lang="en-US" sz="2000" dirty="0"/>
              <a:t>Low cost – Pay only for what you use.</a:t>
            </a:r>
          </a:p>
          <a:p>
            <a:endParaRPr lang="en-US" sz="2000" dirty="0"/>
          </a:p>
          <a:p>
            <a:pPr marL="285750" indent="-285750">
              <a:buFont typeface="Wingdings" panose="05000000000000000000" pitchFamily="2" charset="2"/>
              <a:buChar char="Ø"/>
            </a:pPr>
            <a:r>
              <a:rPr lang="en-US" sz="2000" dirty="0"/>
              <a:t>Decouples apps – Lets different parts of an app work independently.</a:t>
            </a:r>
          </a:p>
          <a:p>
            <a:pPr marL="285750" indent="-285750">
              <a:buFont typeface="Wingdings" panose="05000000000000000000" pitchFamily="2" charset="2"/>
              <a:buChar char="Ø"/>
            </a:pPr>
            <a:endParaRPr lang="en-US" sz="2000" dirty="0"/>
          </a:p>
          <a:p>
            <a:r>
              <a:rPr lang="en-IN" sz="2000" b="1" dirty="0"/>
              <a:t>Disadvantages of Amazon SQS:-</a:t>
            </a:r>
          </a:p>
          <a:p>
            <a:pPr marL="285750" indent="-285750">
              <a:buFont typeface="Wingdings" panose="05000000000000000000" pitchFamily="2" charset="2"/>
              <a:buChar char="Ø"/>
            </a:pPr>
            <a:r>
              <a:rPr lang="en-IN" sz="2000" dirty="0"/>
              <a:t>No guaranteed order (in standard queue).</a:t>
            </a:r>
          </a:p>
          <a:p>
            <a:endParaRPr lang="en-IN" sz="2000" dirty="0"/>
          </a:p>
          <a:p>
            <a:pPr marL="285750" indent="-285750">
              <a:buFont typeface="Wingdings" panose="05000000000000000000" pitchFamily="2" charset="2"/>
              <a:buChar char="Ø"/>
            </a:pPr>
            <a:r>
              <a:rPr lang="en-IN" sz="2000" dirty="0"/>
              <a:t>Limited message size (max 1024KB previously it is 256 KB only).</a:t>
            </a:r>
          </a:p>
          <a:p>
            <a:endParaRPr lang="en-IN" sz="2000" dirty="0"/>
          </a:p>
          <a:p>
            <a:pPr marL="285750" indent="-285750">
              <a:buFont typeface="Wingdings" panose="05000000000000000000" pitchFamily="2" charset="2"/>
              <a:buChar char="Ø"/>
            </a:pPr>
            <a:r>
              <a:rPr lang="en-IN" sz="2000" dirty="0"/>
              <a:t>Possible duplicate messages.</a:t>
            </a:r>
          </a:p>
          <a:p>
            <a:endParaRPr lang="en-IN" sz="2000" dirty="0"/>
          </a:p>
          <a:p>
            <a:pPr marL="285750" indent="-285750">
              <a:buFont typeface="Wingdings" panose="05000000000000000000" pitchFamily="2" charset="2"/>
              <a:buChar char="Ø"/>
            </a:pPr>
            <a:r>
              <a:rPr lang="en-IN" sz="2000" dirty="0"/>
              <a:t>No built-in message filtering or routing.</a:t>
            </a:r>
          </a:p>
          <a:p>
            <a:endParaRPr lang="en-IN" sz="2000" dirty="0"/>
          </a:p>
          <a:p>
            <a:pPr marL="285750" indent="-285750">
              <a:buFont typeface="Wingdings" panose="05000000000000000000" pitchFamily="2" charset="2"/>
              <a:buChar char="Ø"/>
            </a:pPr>
            <a:r>
              <a:rPr lang="en-IN" sz="2000" dirty="0"/>
              <a:t>Uses AWS-only APIs (not standard protocols).</a:t>
            </a:r>
          </a:p>
        </p:txBody>
      </p:sp>
    </p:spTree>
    <p:extLst>
      <p:ext uri="{BB962C8B-B14F-4D97-AF65-F5344CB8AC3E}">
        <p14:creationId xmlns:p14="http://schemas.microsoft.com/office/powerpoint/2010/main" val="170857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01BA37-265F-CB1D-015B-0B32671B54A1}"/>
              </a:ext>
            </a:extLst>
          </p:cNvPr>
          <p:cNvSpPr txBox="1"/>
          <p:nvPr/>
        </p:nvSpPr>
        <p:spPr>
          <a:xfrm>
            <a:off x="5665508" y="2837716"/>
            <a:ext cx="6363093" cy="923330"/>
          </a:xfrm>
          <a:prstGeom prst="rect">
            <a:avLst/>
          </a:prstGeom>
          <a:noFill/>
        </p:spPr>
        <p:txBody>
          <a:bodyPr wrap="square" rtlCol="0">
            <a:spAutoFit/>
          </a:bodyPr>
          <a:lstStyle/>
          <a:p>
            <a:r>
              <a:rPr lang="en-IN" sz="5400" dirty="0"/>
              <a:t>What is AWS MQ?</a:t>
            </a:r>
          </a:p>
        </p:txBody>
      </p:sp>
      <p:pic>
        <p:nvPicPr>
          <p:cNvPr id="2052" name="Picture 4">
            <a:extLst>
              <a:ext uri="{FF2B5EF4-FFF2-40B4-BE49-F238E27FC236}">
                <a16:creationId xmlns:a16="http://schemas.microsoft.com/office/drawing/2014/main" id="{AEB25FA1-6FE0-7A85-5621-6FD59C8B94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99" y="1084083"/>
            <a:ext cx="5172171" cy="4430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146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0B99BB-B311-9533-BF78-F21FFAE1FFD9}"/>
              </a:ext>
            </a:extLst>
          </p:cNvPr>
          <p:cNvSpPr txBox="1"/>
          <p:nvPr/>
        </p:nvSpPr>
        <p:spPr>
          <a:xfrm>
            <a:off x="150829" y="141403"/>
            <a:ext cx="11689237" cy="6555641"/>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t>AWS MQ is a managed message broker service that helps applications send messages to each other reliably.</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It supports popular open-source brokers like Apache ActiveMQ and RabbitMQ, making it easy to migrate existing setups.</a:t>
            </a:r>
          </a:p>
          <a:p>
            <a:endParaRPr lang="en-US" sz="2000" dirty="0"/>
          </a:p>
          <a:p>
            <a:pPr marL="285750" indent="-285750">
              <a:buFont typeface="Wingdings" panose="05000000000000000000" pitchFamily="2" charset="2"/>
              <a:buChar char="Ø"/>
            </a:pPr>
            <a:r>
              <a:rPr lang="en-US" sz="2000" dirty="0"/>
              <a:t>Think of AWS MQ as a post office for your applications.</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Applications can send and receive messages (data, requests, events) through the broker instead of talking directly.</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This helps systems work smoothly even if one part is slow or temporarily down.</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Types of AWS MQ:- It offers two main broker engine types — both are fully managed message brokers.</a:t>
            </a:r>
          </a:p>
          <a:p>
            <a:r>
              <a:rPr lang="en-US" sz="2000" dirty="0"/>
              <a:t>     1. ActiveMQ Broker</a:t>
            </a:r>
          </a:p>
          <a:p>
            <a:r>
              <a:rPr lang="en-US" sz="2000" dirty="0"/>
              <a:t>     2. RabbitMQ Broker</a:t>
            </a:r>
          </a:p>
          <a:p>
            <a:endParaRPr lang="en-US" sz="2000" dirty="0"/>
          </a:p>
          <a:p>
            <a:pPr marL="342900" indent="-342900">
              <a:buFont typeface="Wingdings" panose="05000000000000000000" pitchFamily="2" charset="2"/>
              <a:buChar char="Ø"/>
            </a:pPr>
            <a:r>
              <a:rPr lang="en-US" sz="2000" dirty="0"/>
              <a:t>ActiveMQ → Good for traditional enterprise systems (Java/JMS).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dirty="0"/>
              <a:t>RabbitMQ → Good for modern, fast, scalable applications (microservices, IoT).</a:t>
            </a:r>
          </a:p>
          <a:p>
            <a:pPr marL="285750" indent="-285750">
              <a:buFont typeface="Wingdings" panose="05000000000000000000" pitchFamily="2" charset="2"/>
              <a:buChar char="Ø"/>
            </a:pPr>
            <a:endParaRPr lang="en-US" sz="2000" dirty="0"/>
          </a:p>
          <a:p>
            <a:endParaRPr lang="en-US" sz="2000" dirty="0"/>
          </a:p>
        </p:txBody>
      </p:sp>
    </p:spTree>
    <p:extLst>
      <p:ext uri="{BB962C8B-B14F-4D97-AF65-F5344CB8AC3E}">
        <p14:creationId xmlns:p14="http://schemas.microsoft.com/office/powerpoint/2010/main" val="513581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3BB0ED-A28D-7A6C-1D17-1987A1ADE45C}"/>
              </a:ext>
            </a:extLst>
          </p:cNvPr>
          <p:cNvSpPr txBox="1"/>
          <p:nvPr/>
        </p:nvSpPr>
        <p:spPr>
          <a:xfrm>
            <a:off x="75414" y="75414"/>
            <a:ext cx="11981467" cy="7140416"/>
          </a:xfrm>
          <a:prstGeom prst="rect">
            <a:avLst/>
          </a:prstGeom>
          <a:noFill/>
        </p:spPr>
        <p:txBody>
          <a:bodyPr wrap="square" rtlCol="0">
            <a:spAutoFit/>
          </a:bodyPr>
          <a:lstStyle/>
          <a:p>
            <a:r>
              <a:rPr lang="en-US" sz="2400" b="1" dirty="0"/>
              <a:t>			</a:t>
            </a:r>
            <a:r>
              <a:rPr lang="en-US" sz="2200" b="1" dirty="0"/>
              <a:t>	</a:t>
            </a:r>
            <a:r>
              <a:rPr lang="en-US" sz="2000" b="1" dirty="0"/>
              <a:t>Example :- Banking Transaction System</a:t>
            </a:r>
          </a:p>
          <a:p>
            <a:pPr marL="285750" indent="-285750">
              <a:buFont typeface="Wingdings" panose="05000000000000000000" pitchFamily="2" charset="2"/>
              <a:buChar char="Ø"/>
            </a:pPr>
            <a:r>
              <a:rPr lang="en-US" sz="2000" dirty="0"/>
              <a:t>A large </a:t>
            </a:r>
            <a:r>
              <a:rPr lang="en-US" sz="2000" b="1" dirty="0"/>
              <a:t>banking application</a:t>
            </a:r>
            <a:r>
              <a:rPr lang="en-US" sz="2000" dirty="0"/>
              <a:t> needs to process: Fund transfers; Credit card payments; Loan approvals; Notification.</a:t>
            </a:r>
          </a:p>
          <a:p>
            <a:endParaRPr lang="en-US" sz="2000" dirty="0"/>
          </a:p>
          <a:p>
            <a:r>
              <a:rPr lang="en-US" sz="2000" b="1" dirty="0"/>
              <a:t>How It Works (Step-by-Step)</a:t>
            </a:r>
          </a:p>
          <a:p>
            <a:pPr marL="457200" indent="-457200">
              <a:buFont typeface="+mj-lt"/>
              <a:buAutoNum type="arabicPeriod"/>
            </a:pPr>
            <a:r>
              <a:rPr lang="en-US" sz="2000" b="1" dirty="0"/>
              <a:t>Customer initiates a fund transfer</a:t>
            </a:r>
            <a:br>
              <a:rPr lang="en-US" sz="2000" dirty="0"/>
            </a:br>
            <a:r>
              <a:rPr lang="en-US" sz="2000" dirty="0"/>
              <a:t>The </a:t>
            </a:r>
            <a:r>
              <a:rPr lang="en-US" sz="2000" b="1" dirty="0"/>
              <a:t>frontend banking app</a:t>
            </a:r>
            <a:r>
              <a:rPr lang="en-US" sz="2000" dirty="0"/>
              <a:t> sends a message like {"</a:t>
            </a:r>
            <a:r>
              <a:rPr lang="en-US" sz="2000" dirty="0" err="1"/>
              <a:t>TransactionID</a:t>
            </a:r>
            <a:r>
              <a:rPr lang="en-US" sz="2000" dirty="0"/>
              <a:t>": 1001, "Amount": 2000, "From": “</a:t>
            </a:r>
            <a:r>
              <a:rPr lang="en-US" sz="2000" dirty="0" err="1"/>
              <a:t>varun</a:t>
            </a:r>
            <a:r>
              <a:rPr lang="en-US" sz="2000" dirty="0"/>
              <a:t>", "To": “</a:t>
            </a:r>
            <a:r>
              <a:rPr lang="en-US" sz="2000" dirty="0" err="1"/>
              <a:t>sai</a:t>
            </a:r>
            <a:r>
              <a:rPr lang="en-US" sz="2000" dirty="0"/>
              <a:t>"} to </a:t>
            </a:r>
            <a:r>
              <a:rPr lang="en-US" sz="2000" b="1" dirty="0"/>
              <a:t>AWS MQ broker (ActiveMQ)</a:t>
            </a:r>
            <a:r>
              <a:rPr lang="en-US" sz="2000" dirty="0"/>
              <a:t>.</a:t>
            </a:r>
          </a:p>
          <a:p>
            <a:pPr marL="457200" indent="-457200">
              <a:buFont typeface="+mj-lt"/>
              <a:buAutoNum type="arabicPeriod"/>
            </a:pPr>
            <a:endParaRPr lang="en-US" sz="2000" b="1" dirty="0"/>
          </a:p>
          <a:p>
            <a:pPr marL="457200" indent="-457200">
              <a:buFont typeface="+mj-lt"/>
              <a:buAutoNum type="arabicPeriod"/>
            </a:pPr>
            <a:r>
              <a:rPr lang="en-US" sz="2000" b="1" dirty="0"/>
              <a:t>Message Stored Safely</a:t>
            </a:r>
            <a:endParaRPr lang="en-US" sz="2000" dirty="0"/>
          </a:p>
          <a:p>
            <a:pPr lvl="1"/>
            <a:r>
              <a:rPr lang="en-US" sz="2000" dirty="0"/>
              <a:t>AWS MQ stores this transaction message in a queue/topic (for example, </a:t>
            </a:r>
            <a:r>
              <a:rPr lang="en-US" sz="2000" dirty="0" err="1"/>
              <a:t>TransactionQueue</a:t>
            </a:r>
            <a:r>
              <a:rPr lang="en-US" sz="2000" dirty="0"/>
              <a:t>).</a:t>
            </a:r>
          </a:p>
          <a:p>
            <a:pPr lvl="1"/>
            <a:r>
              <a:rPr lang="en-US" sz="2000" dirty="0"/>
              <a:t>The message won’t be lost — even if the next service is down.</a:t>
            </a:r>
          </a:p>
          <a:p>
            <a:pPr lvl="1"/>
            <a:endParaRPr lang="en-US" sz="2000" dirty="0"/>
          </a:p>
          <a:p>
            <a:pPr marL="457200" indent="-457200">
              <a:buFont typeface="+mj-lt"/>
              <a:buAutoNum type="arabicPeriod"/>
            </a:pPr>
            <a:r>
              <a:rPr lang="en-US" sz="2000" b="1" dirty="0"/>
              <a:t>Backend Core System Reads Message</a:t>
            </a:r>
            <a:endParaRPr lang="en-US" sz="2000" dirty="0"/>
          </a:p>
          <a:p>
            <a:pPr lvl="1"/>
            <a:r>
              <a:rPr lang="en-US" sz="2000" dirty="0"/>
              <a:t>The </a:t>
            </a:r>
            <a:r>
              <a:rPr lang="en-US" sz="2000" b="1" dirty="0"/>
              <a:t>Core Banking System (on-premise)</a:t>
            </a:r>
            <a:r>
              <a:rPr lang="en-US" sz="2000" dirty="0"/>
              <a:t> subscribes to the same queue.</a:t>
            </a:r>
          </a:p>
          <a:p>
            <a:pPr lvl="1"/>
            <a:r>
              <a:rPr lang="en-US" sz="2000" dirty="0"/>
              <a:t>It reads the message, processes the fund transfer, and updates customer balance.</a:t>
            </a:r>
          </a:p>
          <a:p>
            <a:pPr lvl="1"/>
            <a:endParaRPr lang="en-US" sz="2000" dirty="0"/>
          </a:p>
          <a:p>
            <a:pPr marL="457200" indent="-457200">
              <a:buFont typeface="+mj-lt"/>
              <a:buAutoNum type="arabicPeriod"/>
            </a:pPr>
            <a:r>
              <a:rPr lang="en-US" sz="2000" b="1" dirty="0"/>
              <a:t>Notification Service</a:t>
            </a:r>
            <a:endParaRPr lang="en-US" sz="2000" dirty="0"/>
          </a:p>
          <a:p>
            <a:pPr lvl="1"/>
            <a:r>
              <a:rPr lang="en-US" sz="2000" dirty="0"/>
              <a:t>Another service subscribed to the topic gets notified automatically (via </a:t>
            </a:r>
            <a:r>
              <a:rPr lang="en-US" sz="2000" b="1" dirty="0"/>
              <a:t>pub/sub</a:t>
            </a:r>
            <a:r>
              <a:rPr lang="en-US" sz="2000" dirty="0"/>
              <a:t> model).</a:t>
            </a:r>
          </a:p>
          <a:p>
            <a:pPr lvl="1"/>
            <a:r>
              <a:rPr lang="en-US" sz="2000" dirty="0"/>
              <a:t>It sends a confirmation SMS or email: “Your transfer of ₹2000 was successful.”</a:t>
            </a:r>
          </a:p>
          <a:p>
            <a:br>
              <a:rPr lang="en-US" dirty="0"/>
            </a:br>
            <a:endParaRPr lang="en-US" dirty="0"/>
          </a:p>
          <a:p>
            <a:endParaRPr lang="en-US" b="1" dirty="0"/>
          </a:p>
        </p:txBody>
      </p:sp>
    </p:spTree>
    <p:extLst>
      <p:ext uri="{BB962C8B-B14F-4D97-AF65-F5344CB8AC3E}">
        <p14:creationId xmlns:p14="http://schemas.microsoft.com/office/powerpoint/2010/main" val="4078075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664301-0EFC-401B-1DAE-AE433F9833E7}"/>
              </a:ext>
            </a:extLst>
          </p:cNvPr>
          <p:cNvSpPr txBox="1"/>
          <p:nvPr/>
        </p:nvSpPr>
        <p:spPr>
          <a:xfrm>
            <a:off x="235671" y="131975"/>
            <a:ext cx="11830638" cy="6555641"/>
          </a:xfrm>
          <a:prstGeom prst="rect">
            <a:avLst/>
          </a:prstGeom>
          <a:noFill/>
        </p:spPr>
        <p:txBody>
          <a:bodyPr wrap="square" rtlCol="0">
            <a:spAutoFit/>
          </a:bodyPr>
          <a:lstStyle/>
          <a:p>
            <a:r>
              <a:rPr lang="en-US" sz="2000" b="1" dirty="0"/>
              <a:t>Advantages of AWS MQ:-</a:t>
            </a:r>
          </a:p>
          <a:p>
            <a:pPr marL="285750" indent="-285750">
              <a:buFont typeface="Wingdings" panose="05000000000000000000" pitchFamily="2" charset="2"/>
              <a:buChar char="Ø"/>
            </a:pPr>
            <a:r>
              <a:rPr lang="en-US" sz="2000" dirty="0"/>
              <a:t>Fully managed – AWS handles setup, scaling, and maintenance.</a:t>
            </a:r>
          </a:p>
          <a:p>
            <a:endParaRPr lang="en-US" sz="2000" dirty="0"/>
          </a:p>
          <a:p>
            <a:pPr marL="285750" indent="-285750">
              <a:buFont typeface="Wingdings" panose="05000000000000000000" pitchFamily="2" charset="2"/>
              <a:buChar char="Ø"/>
            </a:pPr>
            <a:r>
              <a:rPr lang="en-US" sz="2000" dirty="0"/>
              <a:t>Supports standard protocols – Works with JMS, AMQP, MQTT, STOMP, etc.</a:t>
            </a:r>
          </a:p>
          <a:p>
            <a:endParaRPr lang="en-US" sz="2000" dirty="0"/>
          </a:p>
          <a:p>
            <a:pPr marL="285750" indent="-285750">
              <a:buFont typeface="Wingdings" panose="05000000000000000000" pitchFamily="2" charset="2"/>
              <a:buChar char="Ø"/>
            </a:pPr>
            <a:r>
              <a:rPr lang="en-US" sz="2000" dirty="0"/>
              <a:t>Reliable – Messages are safely stored until delivered.</a:t>
            </a:r>
          </a:p>
          <a:p>
            <a:endParaRPr lang="en-US" sz="2000" dirty="0"/>
          </a:p>
          <a:p>
            <a:pPr marL="285750" indent="-285750">
              <a:buFont typeface="Wingdings" panose="05000000000000000000" pitchFamily="2" charset="2"/>
              <a:buChar char="Ø"/>
            </a:pPr>
            <a:r>
              <a:rPr lang="en-US" sz="2000" dirty="0"/>
              <a:t>Good for legacy systems – Easy to connect old enterprise apps (like Java systems).</a:t>
            </a:r>
          </a:p>
          <a:p>
            <a:endParaRPr lang="en-US" sz="2000" dirty="0"/>
          </a:p>
          <a:p>
            <a:pPr marL="285750" indent="-285750">
              <a:buFont typeface="Wingdings" panose="05000000000000000000" pitchFamily="2" charset="2"/>
              <a:buChar char="Ø"/>
            </a:pPr>
            <a:r>
              <a:rPr lang="en-US" sz="2000" dirty="0"/>
              <a:t>Supports pub/sub model – One message can go to many receivers.</a:t>
            </a:r>
          </a:p>
          <a:p>
            <a:pPr marL="285750" indent="-285750">
              <a:buFont typeface="Wingdings" panose="05000000000000000000" pitchFamily="2" charset="2"/>
              <a:buChar char="Ø"/>
            </a:pPr>
            <a:endParaRPr lang="en-US" sz="2000" dirty="0"/>
          </a:p>
          <a:p>
            <a:r>
              <a:rPr lang="en-US" sz="2000" b="1" dirty="0"/>
              <a:t>Disadvantages of AWS MQ:-</a:t>
            </a:r>
          </a:p>
          <a:p>
            <a:pPr marL="285750" indent="-285750">
              <a:buFont typeface="Wingdings" panose="05000000000000000000" pitchFamily="2" charset="2"/>
              <a:buChar char="Ø"/>
            </a:pPr>
            <a:r>
              <a:rPr lang="en-US" sz="2000" dirty="0"/>
              <a:t>More complex – Setup and management are harder than SQS.</a:t>
            </a:r>
          </a:p>
          <a:p>
            <a:endParaRPr lang="en-US" sz="2000" dirty="0"/>
          </a:p>
          <a:p>
            <a:pPr marL="285750" indent="-285750">
              <a:buFont typeface="Wingdings" panose="05000000000000000000" pitchFamily="2" charset="2"/>
              <a:buChar char="Ø"/>
            </a:pPr>
            <a:r>
              <a:rPr lang="en-US" sz="2000" dirty="0"/>
              <a:t>Higher cost – You pay for broker uptime, not just messages.</a:t>
            </a:r>
          </a:p>
          <a:p>
            <a:endParaRPr lang="en-US" sz="2000" dirty="0"/>
          </a:p>
          <a:p>
            <a:pPr marL="285750" indent="-285750">
              <a:buFont typeface="Wingdings" panose="05000000000000000000" pitchFamily="2" charset="2"/>
              <a:buChar char="Ø"/>
            </a:pPr>
            <a:r>
              <a:rPr lang="en-US" sz="2000" dirty="0"/>
              <a:t>Slightly slower – Because it handles more features and protocols.</a:t>
            </a:r>
          </a:p>
          <a:p>
            <a:endParaRPr lang="en-US" sz="2000" dirty="0"/>
          </a:p>
          <a:p>
            <a:pPr marL="285750" indent="-285750">
              <a:buFont typeface="Wingdings" panose="05000000000000000000" pitchFamily="2" charset="2"/>
              <a:buChar char="Ø"/>
            </a:pPr>
            <a:r>
              <a:rPr lang="en-US" sz="2000" dirty="0"/>
              <a:t>Not auto-scaling like SQS – Needs manual scaling for high loads.</a:t>
            </a:r>
          </a:p>
          <a:p>
            <a:endParaRPr lang="en-US" sz="2000" dirty="0"/>
          </a:p>
          <a:p>
            <a:pPr marL="285750" indent="-285750">
              <a:buFont typeface="Wingdings" panose="05000000000000000000" pitchFamily="2" charset="2"/>
              <a:buChar char="Ø"/>
            </a:pPr>
            <a:r>
              <a:rPr lang="en-US" sz="2000" dirty="0"/>
              <a:t>Overkill for simple apps – Too advanced if you just need basic queuing.</a:t>
            </a:r>
            <a:endParaRPr lang="en-IN" sz="2000" dirty="0"/>
          </a:p>
        </p:txBody>
      </p:sp>
    </p:spTree>
    <p:extLst>
      <p:ext uri="{BB962C8B-B14F-4D97-AF65-F5344CB8AC3E}">
        <p14:creationId xmlns:p14="http://schemas.microsoft.com/office/powerpoint/2010/main" val="2656389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AE2B0CD-9183-1BEE-7DD3-6E2FE8593DDD}"/>
              </a:ext>
            </a:extLst>
          </p:cNvPr>
          <p:cNvGraphicFramePr>
            <a:graphicFrameLocks noGrp="1"/>
          </p:cNvGraphicFramePr>
          <p:nvPr>
            <p:extLst>
              <p:ext uri="{D42A27DB-BD31-4B8C-83A1-F6EECF244321}">
                <p14:modId xmlns:p14="http://schemas.microsoft.com/office/powerpoint/2010/main" val="1506578052"/>
              </p:ext>
            </p:extLst>
          </p:nvPr>
        </p:nvGraphicFramePr>
        <p:xfrm>
          <a:off x="131974" y="772998"/>
          <a:ext cx="11990896" cy="5986019"/>
        </p:xfrm>
        <a:graphic>
          <a:graphicData uri="http://schemas.openxmlformats.org/drawingml/2006/table">
            <a:tbl>
              <a:tblPr>
                <a:tableStyleId>{3C2FFA5D-87B4-456A-9821-1D502468CF0F}</a:tableStyleId>
              </a:tblPr>
              <a:tblGrid>
                <a:gridCol w="2664644">
                  <a:extLst>
                    <a:ext uri="{9D8B030D-6E8A-4147-A177-3AD203B41FA5}">
                      <a16:colId xmlns:a16="http://schemas.microsoft.com/office/drawing/2014/main" val="319522332"/>
                    </a:ext>
                  </a:extLst>
                </a:gridCol>
                <a:gridCol w="4663126">
                  <a:extLst>
                    <a:ext uri="{9D8B030D-6E8A-4147-A177-3AD203B41FA5}">
                      <a16:colId xmlns:a16="http://schemas.microsoft.com/office/drawing/2014/main" val="2136745539"/>
                    </a:ext>
                  </a:extLst>
                </a:gridCol>
                <a:gridCol w="4663126">
                  <a:extLst>
                    <a:ext uri="{9D8B030D-6E8A-4147-A177-3AD203B41FA5}">
                      <a16:colId xmlns:a16="http://schemas.microsoft.com/office/drawing/2014/main" val="740601939"/>
                    </a:ext>
                  </a:extLst>
                </a:gridCol>
              </a:tblGrid>
              <a:tr h="701747">
                <a:tc>
                  <a:txBody>
                    <a:bodyPr/>
                    <a:lstStyle/>
                    <a:p>
                      <a:pPr algn="ctr" rtl="0" fontAlgn="base">
                        <a:spcAft>
                          <a:spcPts val="750"/>
                        </a:spcAft>
                        <a:buNone/>
                      </a:pPr>
                      <a:r>
                        <a:rPr lang="en-IN" sz="2000" b="1" dirty="0">
                          <a:effectLst/>
                        </a:rPr>
                        <a:t>Features</a:t>
                      </a:r>
                    </a:p>
                  </a:txBody>
                  <a:tcPr marL="38100" marR="38100" marT="76200" marB="76200" anchor="ctr"/>
                </a:tc>
                <a:tc>
                  <a:txBody>
                    <a:bodyPr/>
                    <a:lstStyle/>
                    <a:p>
                      <a:pPr algn="ctr" rtl="0" fontAlgn="base">
                        <a:spcAft>
                          <a:spcPts val="750"/>
                        </a:spcAft>
                        <a:buNone/>
                      </a:pPr>
                      <a:r>
                        <a:rPr lang="en-IN" sz="2000" b="1" dirty="0">
                          <a:effectLst/>
                        </a:rPr>
                        <a:t>Amazon SQS</a:t>
                      </a:r>
                    </a:p>
                  </a:txBody>
                  <a:tcPr marL="76200" marR="76200" marT="76200" marB="76200" anchor="ctr"/>
                </a:tc>
                <a:tc>
                  <a:txBody>
                    <a:bodyPr/>
                    <a:lstStyle/>
                    <a:p>
                      <a:pPr algn="ctr" rtl="0" fontAlgn="base">
                        <a:spcAft>
                          <a:spcPts val="750"/>
                        </a:spcAft>
                        <a:buNone/>
                      </a:pPr>
                      <a:r>
                        <a:rPr lang="en-IN" sz="2000" b="1" dirty="0">
                          <a:effectLst/>
                        </a:rPr>
                        <a:t>Amazon MQ</a:t>
                      </a:r>
                    </a:p>
                  </a:txBody>
                  <a:tcPr marL="76200" marR="76200" marT="76200" marB="76200" anchor="ctr"/>
                </a:tc>
                <a:extLst>
                  <a:ext uri="{0D108BD9-81ED-4DB2-BD59-A6C34878D82A}">
                    <a16:rowId xmlns:a16="http://schemas.microsoft.com/office/drawing/2014/main" val="2730722018"/>
                  </a:ext>
                </a:extLst>
              </a:tr>
              <a:tr h="1297120">
                <a:tc>
                  <a:txBody>
                    <a:bodyPr/>
                    <a:lstStyle/>
                    <a:p>
                      <a:pPr algn="ctr" rtl="0" fontAlgn="base">
                        <a:spcAft>
                          <a:spcPts val="750"/>
                        </a:spcAft>
                        <a:buNone/>
                      </a:pPr>
                      <a:r>
                        <a:rPr lang="en-IN" sz="2000" b="1" dirty="0">
                          <a:effectLst/>
                        </a:rPr>
                        <a:t>Messaging Pattern</a:t>
                      </a:r>
                    </a:p>
                  </a:txBody>
                  <a:tcPr marL="38100" marR="38100" marT="63718" marB="63718" anchor="ctr"/>
                </a:tc>
                <a:tc>
                  <a:txBody>
                    <a:bodyPr/>
                    <a:lstStyle/>
                    <a:p>
                      <a:pPr algn="ctr" rtl="0" fontAlgn="base">
                        <a:spcAft>
                          <a:spcPts val="750"/>
                        </a:spcAft>
                        <a:buNone/>
                      </a:pPr>
                      <a:r>
                        <a:rPr lang="en-US" sz="1800" b="0" dirty="0">
                          <a:effectLst/>
                        </a:rPr>
                        <a:t>It works on Queue-based i.e., point-to-point</a:t>
                      </a:r>
                    </a:p>
                  </a:txBody>
                  <a:tcPr marL="76200" marR="76200" marT="106680" marB="106680" anchor="ctr"/>
                </a:tc>
                <a:tc>
                  <a:txBody>
                    <a:bodyPr/>
                    <a:lstStyle/>
                    <a:p>
                      <a:pPr algn="ctr" rtl="0" fontAlgn="base">
                        <a:spcAft>
                          <a:spcPts val="750"/>
                        </a:spcAft>
                        <a:buNone/>
                      </a:pPr>
                      <a:r>
                        <a:rPr lang="en-US" sz="1800" b="0" dirty="0">
                          <a:effectLst/>
                        </a:rPr>
                        <a:t>It also works on Queue based i.e., ( Point-to-Point )</a:t>
                      </a:r>
                    </a:p>
                  </a:txBody>
                  <a:tcPr marL="76200" marR="76200" marT="106680" marB="106680" anchor="ctr"/>
                </a:tc>
                <a:extLst>
                  <a:ext uri="{0D108BD9-81ED-4DB2-BD59-A6C34878D82A}">
                    <a16:rowId xmlns:a16="http://schemas.microsoft.com/office/drawing/2014/main" val="2785653015"/>
                  </a:ext>
                </a:extLst>
              </a:tr>
              <a:tr h="1140340">
                <a:tc>
                  <a:txBody>
                    <a:bodyPr/>
                    <a:lstStyle/>
                    <a:p>
                      <a:pPr algn="ctr" rtl="0" fontAlgn="base">
                        <a:spcAft>
                          <a:spcPts val="750"/>
                        </a:spcAft>
                        <a:buNone/>
                      </a:pPr>
                      <a:r>
                        <a:rPr lang="en-IN" sz="2000" b="1" dirty="0">
                          <a:effectLst/>
                        </a:rPr>
                        <a:t>Protocol Support</a:t>
                      </a:r>
                    </a:p>
                  </a:txBody>
                  <a:tcPr marL="38100" marR="38100" marT="63718" marB="63718" anchor="ctr"/>
                </a:tc>
                <a:tc>
                  <a:txBody>
                    <a:bodyPr/>
                    <a:lstStyle/>
                    <a:p>
                      <a:pPr algn="ctr" rtl="0" fontAlgn="base">
                        <a:spcAft>
                          <a:spcPts val="750"/>
                        </a:spcAft>
                        <a:buNone/>
                      </a:pPr>
                      <a:r>
                        <a:rPr lang="en-US" sz="1800" b="0" dirty="0">
                          <a:effectLst/>
                        </a:rPr>
                        <a:t>It works with protocols such as HTTP/HTTPS , AWS SDKs</a:t>
                      </a:r>
                    </a:p>
                  </a:txBody>
                  <a:tcPr marL="76200" marR="76200" marT="106680" marB="106680" anchor="ctr"/>
                </a:tc>
                <a:tc>
                  <a:txBody>
                    <a:bodyPr/>
                    <a:lstStyle/>
                    <a:p>
                      <a:pPr algn="ctr" rtl="0" fontAlgn="base">
                        <a:spcAft>
                          <a:spcPts val="750"/>
                        </a:spcAft>
                        <a:buNone/>
                      </a:pPr>
                      <a:r>
                        <a:rPr lang="en-US" sz="1800" b="0" dirty="0">
                          <a:effectLst/>
                        </a:rPr>
                        <a:t>It works on protocols AMQP, MQTT, </a:t>
                      </a:r>
                      <a:r>
                        <a:rPr lang="en-US" sz="1800" b="0" dirty="0" err="1">
                          <a:effectLst/>
                        </a:rPr>
                        <a:t>OpenWire</a:t>
                      </a:r>
                      <a:r>
                        <a:rPr lang="en-US" sz="1800" b="0" dirty="0">
                          <a:effectLst/>
                        </a:rPr>
                        <a:t>, STOMP</a:t>
                      </a:r>
                    </a:p>
                  </a:txBody>
                  <a:tcPr marL="76200" marR="76200" marT="106680" marB="106680" anchor="ctr"/>
                </a:tc>
                <a:extLst>
                  <a:ext uri="{0D108BD9-81ED-4DB2-BD59-A6C34878D82A}">
                    <a16:rowId xmlns:a16="http://schemas.microsoft.com/office/drawing/2014/main" val="2204009033"/>
                  </a:ext>
                </a:extLst>
              </a:tr>
              <a:tr h="1297120">
                <a:tc>
                  <a:txBody>
                    <a:bodyPr/>
                    <a:lstStyle/>
                    <a:p>
                      <a:pPr algn="ctr" rtl="0" fontAlgn="base">
                        <a:spcAft>
                          <a:spcPts val="750"/>
                        </a:spcAft>
                        <a:buNone/>
                      </a:pPr>
                      <a:r>
                        <a:rPr lang="en-IN" sz="2000" b="1" dirty="0">
                          <a:effectLst/>
                        </a:rPr>
                        <a:t>Message Retention</a:t>
                      </a:r>
                    </a:p>
                  </a:txBody>
                  <a:tcPr marL="38100" marR="38100" marT="63718" marB="63718" anchor="ctr"/>
                </a:tc>
                <a:tc>
                  <a:txBody>
                    <a:bodyPr/>
                    <a:lstStyle/>
                    <a:p>
                      <a:pPr algn="ctr" rtl="0" fontAlgn="base">
                        <a:spcAft>
                          <a:spcPts val="750"/>
                        </a:spcAft>
                        <a:buNone/>
                      </a:pPr>
                      <a:r>
                        <a:rPr lang="en-IN" sz="1800" b="0" dirty="0">
                          <a:effectLst/>
                        </a:rPr>
                        <a:t>It is Configurable</a:t>
                      </a:r>
                    </a:p>
                  </a:txBody>
                  <a:tcPr marL="76200" marR="76200" marT="106680" marB="106680" anchor="ctr"/>
                </a:tc>
                <a:tc>
                  <a:txBody>
                    <a:bodyPr/>
                    <a:lstStyle/>
                    <a:p>
                      <a:pPr algn="ctr" rtl="0" fontAlgn="base">
                        <a:spcAft>
                          <a:spcPts val="750"/>
                        </a:spcAft>
                        <a:buNone/>
                      </a:pPr>
                      <a:r>
                        <a:rPr lang="en-IN" sz="1800" b="0" dirty="0">
                          <a:effectLst/>
                        </a:rPr>
                        <a:t>It is Configurable</a:t>
                      </a:r>
                    </a:p>
                  </a:txBody>
                  <a:tcPr marL="76200" marR="76200" marT="106680" marB="106680" anchor="ctr"/>
                </a:tc>
                <a:extLst>
                  <a:ext uri="{0D108BD9-81ED-4DB2-BD59-A6C34878D82A}">
                    <a16:rowId xmlns:a16="http://schemas.microsoft.com/office/drawing/2014/main" val="708099285"/>
                  </a:ext>
                </a:extLst>
              </a:tr>
              <a:tr h="774846">
                <a:tc>
                  <a:txBody>
                    <a:bodyPr/>
                    <a:lstStyle/>
                    <a:p>
                      <a:pPr algn="ctr" rtl="0" fontAlgn="base">
                        <a:spcAft>
                          <a:spcPts val="750"/>
                        </a:spcAft>
                        <a:buNone/>
                      </a:pPr>
                      <a:r>
                        <a:rPr lang="en-IN" sz="2000" b="1" dirty="0">
                          <a:effectLst/>
                        </a:rPr>
                        <a:t>Message Ordering</a:t>
                      </a:r>
                    </a:p>
                  </a:txBody>
                  <a:tcPr marL="38100" marR="38100" marT="63718" marB="63718" anchor="ctr"/>
                </a:tc>
                <a:tc>
                  <a:txBody>
                    <a:bodyPr/>
                    <a:lstStyle/>
                    <a:p>
                      <a:pPr algn="ctr" rtl="0" fontAlgn="base">
                        <a:spcAft>
                          <a:spcPts val="750"/>
                        </a:spcAft>
                        <a:buNone/>
                      </a:pPr>
                      <a:r>
                        <a:rPr lang="en-IN" sz="1800" b="0" dirty="0">
                          <a:effectLst/>
                        </a:rPr>
                        <a:t>It provides best-effort ordering</a:t>
                      </a:r>
                    </a:p>
                  </a:txBody>
                  <a:tcPr marL="76200" marR="76200" marT="106680" marB="106680" anchor="ctr"/>
                </a:tc>
                <a:tc>
                  <a:txBody>
                    <a:bodyPr/>
                    <a:lstStyle/>
                    <a:p>
                      <a:pPr algn="ctr" rtl="0" fontAlgn="base">
                        <a:spcAft>
                          <a:spcPts val="750"/>
                        </a:spcAft>
                        <a:buNone/>
                      </a:pPr>
                      <a:r>
                        <a:rPr lang="en-IN" sz="1800" b="0" dirty="0">
                          <a:effectLst/>
                        </a:rPr>
                        <a:t>It provides guaranteed ordering</a:t>
                      </a:r>
                    </a:p>
                  </a:txBody>
                  <a:tcPr marL="76200" marR="76200" marT="106680" marB="106680" anchor="ctr"/>
                </a:tc>
                <a:extLst>
                  <a:ext uri="{0D108BD9-81ED-4DB2-BD59-A6C34878D82A}">
                    <a16:rowId xmlns:a16="http://schemas.microsoft.com/office/drawing/2014/main" val="3187892982"/>
                  </a:ext>
                </a:extLst>
              </a:tr>
              <a:tr h="774846">
                <a:tc>
                  <a:txBody>
                    <a:bodyPr/>
                    <a:lstStyle/>
                    <a:p>
                      <a:pPr algn="ctr" rtl="0" fontAlgn="base">
                        <a:spcAft>
                          <a:spcPts val="750"/>
                        </a:spcAft>
                        <a:buNone/>
                      </a:pPr>
                      <a:r>
                        <a:rPr lang="en-IN" sz="2000" b="1" dirty="0">
                          <a:effectLst/>
                        </a:rPr>
                        <a:t>Consumer Control</a:t>
                      </a:r>
                    </a:p>
                  </a:txBody>
                  <a:tcPr marL="38100" marR="38100" marT="63718" marB="63718" anchor="ctr"/>
                </a:tc>
                <a:tc>
                  <a:txBody>
                    <a:bodyPr/>
                    <a:lstStyle/>
                    <a:p>
                      <a:pPr algn="ctr" rtl="0" fontAlgn="base">
                        <a:spcAft>
                          <a:spcPts val="750"/>
                        </a:spcAft>
                        <a:buNone/>
                      </a:pPr>
                      <a:r>
                        <a:rPr lang="en-US" sz="1800" b="0" dirty="0">
                          <a:effectLst/>
                        </a:rPr>
                        <a:t>It is pooling by Consumers</a:t>
                      </a:r>
                    </a:p>
                  </a:txBody>
                  <a:tcPr marL="76200" marR="76200" marT="106680" marB="106680" anchor="ctr"/>
                </a:tc>
                <a:tc>
                  <a:txBody>
                    <a:bodyPr/>
                    <a:lstStyle/>
                    <a:p>
                      <a:pPr algn="ctr" rtl="0" fontAlgn="base">
                        <a:spcAft>
                          <a:spcPts val="750"/>
                        </a:spcAft>
                        <a:buNone/>
                      </a:pPr>
                      <a:r>
                        <a:rPr lang="en-US" sz="1800" b="0" dirty="0">
                          <a:effectLst/>
                        </a:rPr>
                        <a:t>It is dedicated to consumers instances</a:t>
                      </a:r>
                    </a:p>
                  </a:txBody>
                  <a:tcPr marL="76200" marR="76200" marT="106680" marB="106680" anchor="ctr"/>
                </a:tc>
                <a:extLst>
                  <a:ext uri="{0D108BD9-81ED-4DB2-BD59-A6C34878D82A}">
                    <a16:rowId xmlns:a16="http://schemas.microsoft.com/office/drawing/2014/main" val="2361534320"/>
                  </a:ext>
                </a:extLst>
              </a:tr>
            </a:tbl>
          </a:graphicData>
        </a:graphic>
      </p:graphicFrame>
      <p:sp>
        <p:nvSpPr>
          <p:cNvPr id="8" name="TextBox 7">
            <a:extLst>
              <a:ext uri="{FF2B5EF4-FFF2-40B4-BE49-F238E27FC236}">
                <a16:creationId xmlns:a16="http://schemas.microsoft.com/office/drawing/2014/main" id="{005DA2EE-AE1C-605A-EF79-3EAC1230AFE2}"/>
              </a:ext>
            </a:extLst>
          </p:cNvPr>
          <p:cNvSpPr txBox="1"/>
          <p:nvPr/>
        </p:nvSpPr>
        <p:spPr>
          <a:xfrm>
            <a:off x="377071" y="98983"/>
            <a:ext cx="10925667" cy="523220"/>
          </a:xfrm>
          <a:prstGeom prst="rect">
            <a:avLst/>
          </a:prstGeom>
          <a:noFill/>
        </p:spPr>
        <p:txBody>
          <a:bodyPr wrap="square" rtlCol="0">
            <a:spAutoFit/>
          </a:bodyPr>
          <a:lstStyle/>
          <a:p>
            <a:r>
              <a:rPr lang="en-IN" sz="2800" b="1" dirty="0"/>
              <a:t>Difference between Amazon SQS VS  Amazon MQ:-</a:t>
            </a:r>
          </a:p>
        </p:txBody>
      </p:sp>
    </p:spTree>
    <p:extLst>
      <p:ext uri="{BB962C8B-B14F-4D97-AF65-F5344CB8AC3E}">
        <p14:creationId xmlns:p14="http://schemas.microsoft.com/office/powerpoint/2010/main" val="3438653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DF53210-AD0A-FE3C-3321-60B272E848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22" y="75413"/>
            <a:ext cx="11962614" cy="6693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1930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4068A8A-67F0-2095-9C71-B849A9D438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75" y="84343"/>
            <a:ext cx="11924907" cy="6711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42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1276</Words>
  <Application>Microsoft Office PowerPoint</Application>
  <PresentationFormat>Widescreen</PresentationFormat>
  <Paragraphs>201</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Amazon Ember</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Rishitha Reddy</dc:creator>
  <cp:lastModifiedBy>Rishitha Reddy</cp:lastModifiedBy>
  <cp:revision>19</cp:revision>
  <dcterms:created xsi:type="dcterms:W3CDTF">2025-10-20T10:47:09Z</dcterms:created>
  <dcterms:modified xsi:type="dcterms:W3CDTF">2025-10-24T07:07:25Z</dcterms:modified>
</cp:coreProperties>
</file>