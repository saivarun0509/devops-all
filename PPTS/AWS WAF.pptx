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4" r:id="rId2"/>
    <p:sldId id="268" r:id="rId3"/>
    <p:sldId id="269" r:id="rId4"/>
    <p:sldId id="270" r:id="rId5"/>
    <p:sldId id="271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17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A82D1-CCC9-4A6A-B1A0-7B9D15704C2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C2A40-6B0D-43DB-B99F-5E90BC512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6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BF6E-0774-69AC-DEBE-AB187A61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5A90-85D6-F9EF-4A20-102ADEB57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2609-55AF-5D00-D1A2-EC9574A5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6A81-758C-EEED-FF1E-FB7C1FDD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9149-BC79-1DCA-E626-04D2CBF6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AA17-2549-A5B0-7877-FD676EAF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CD4F-3591-494D-E735-D9261238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A40A-C9AD-6AB2-F63B-C9AA3363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833B-F684-B080-5F15-79A581E8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D2D7-EEB0-8CC3-9C22-69BE5DE5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6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1902-DBCE-DCAF-EBFA-59BD9F3E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3783-320A-0055-1751-2C095122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1803D-AE72-9A55-AE7A-8FF4283D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EE6F-1D31-2D0B-B022-AD04E675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8AF9-1D39-08B6-969B-70200A7B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43DF-6119-2C5D-BA90-4A759897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8A0F-59A6-A605-45A2-46DCC8B84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C6D39-590C-88FF-1BAE-06B551915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D4EDF-BAC8-3BFE-105C-2FFA601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AA8C5-1218-7799-02AE-1CB6145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77B09-5311-A156-3973-630232D8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BACC-D0E6-7D08-2F49-423D4BE2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DB4-855D-A077-C003-782AA7CA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4064F-6465-D9C4-DEA2-AD17FD876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190DB-C071-6605-2D5B-51DB2DBEF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A4B36-99A9-BEFD-06D1-3691D1156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65DAE-F7F7-A0AB-1E5E-6B94FF97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1A28B-1197-A8B1-B009-3EA2C918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965EB-E941-B26E-781F-263AC26B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FBD9-1635-BB36-D889-5E184213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C90E9-EF82-4674-C339-9C422FAE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A4824-C159-EE7D-22FC-C5505EC2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A8CC0-B67E-22B4-B89A-D1D26A30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89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BE227-FB82-30B7-FA4A-88C5F1EA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7845-6BEF-E9D2-3B40-1EF3B9A9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7E2D4-5A4C-B43B-A2F9-F8EE9FBC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D296-F3B7-FFAC-E740-C79A89E1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62C2-A08D-C8E4-9B0C-AF6ADD0A2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B190-9FC7-2897-CBC1-AFFECC87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30F0-07F0-2914-FE3D-2BD56891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CD1AF-CF68-3BEB-303B-A8BB288E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C4E-B34B-D17F-228F-0ED95CA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35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1FA8-7F49-A131-457D-03C6063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134F5-D5F9-E0BF-1F48-E492C3A5C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A342-B84D-9B1C-A0FC-B625C9CF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ED652-30DC-4C4C-297A-85B8B72B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0DC1E-D904-EEEB-C3D2-198389B1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CEF54-46CE-58B1-B1F5-56795FAE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2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4AD2-E3F1-E476-7FF8-0DD6643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713E4-4F35-3DD5-D5CE-461E85D67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C7C4-EDCF-0C12-DAC7-DB938EEB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347C-F425-F2C0-CF30-BB98665B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34EB1-77B5-7E25-F428-1F87D370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3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8FF74-D03B-3AA2-5ABB-EE478E55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62C17-2DB2-D3CE-B89F-E9FDB7FBC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12A48-22B6-10A0-AAB4-0181DE68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D7CB-2C51-CC14-0B52-ABE04CF2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65DF-E42E-8E14-89CF-2E851665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0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9E9D-FB23-294A-7DBE-A421F17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1F2F-3726-EDA5-1F0D-E3DE91FF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282F-4508-0EE5-B35D-1AD566606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D27E-50E4-003C-DB9A-9A15744CC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C9F8-B5ED-2AD7-FAA5-D58106124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4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B6F66-B854-D642-385B-97A9017DCDC7}"/>
              </a:ext>
            </a:extLst>
          </p:cNvPr>
          <p:cNvSpPr txBox="1"/>
          <p:nvPr/>
        </p:nvSpPr>
        <p:spPr>
          <a:xfrm>
            <a:off x="235670" y="480767"/>
            <a:ext cx="1172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Topic on:-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EF9C6-A7D9-A1D4-6392-73B7329AD3A2}"/>
              </a:ext>
            </a:extLst>
          </p:cNvPr>
          <p:cNvSpPr txBox="1"/>
          <p:nvPr/>
        </p:nvSpPr>
        <p:spPr>
          <a:xfrm>
            <a:off x="7946797" y="5335571"/>
            <a:ext cx="378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		Presented By:-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/>
              <a:t>		Sai varun Reddy</a:t>
            </a:r>
          </a:p>
          <a:p>
            <a:r>
              <a:rPr lang="en-IN" sz="2000" b="1" dirty="0"/>
              <a:t>		Batch - 15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F2C7B4-3654-6416-31B9-5BC1533EF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274" y="1033464"/>
            <a:ext cx="5715639" cy="397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5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8EA832-88EF-C59E-7EC9-619E563C0C41}"/>
              </a:ext>
            </a:extLst>
          </p:cNvPr>
          <p:cNvSpPr txBox="1"/>
          <p:nvPr/>
        </p:nvSpPr>
        <p:spPr>
          <a:xfrm>
            <a:off x="160256" y="122548"/>
            <a:ext cx="1195318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AWS WAF?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Web Application Firewall from AWS.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sits in front of your web application (like an API Gateway, CloudFront, or Application Load Balancer).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monitors all incoming HTTP(S) requests.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Goal: Protects your application from common web exploits (e.g., hackers and malicious bots) that could affect availability, compromise security, or consume excessive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1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7354AE-A887-CAFE-37C3-C0CCAB42F623}"/>
              </a:ext>
            </a:extLst>
          </p:cNvPr>
          <p:cNvSpPr txBox="1"/>
          <p:nvPr/>
        </p:nvSpPr>
        <p:spPr>
          <a:xfrm>
            <a:off x="188536" y="338202"/>
            <a:ext cx="1176465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Core Concept: How WAF Works:-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WAF is all about Rules: You define rules that inspect incoming traffic for suspicious patterns.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Analogy: Think of WAF as a bouncer at a club 👮: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checks the ID (the request's attributes like IP address, country, or headers).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checks for forbidden items (malicious code like SQL injection or Cross-Site Scripting).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Three Actions: For every request, WAF can take one of three actions:</a:t>
            </a:r>
          </a:p>
          <a:p>
            <a:endParaRPr lang="en-US" sz="2000" dirty="0"/>
          </a:p>
          <a:p>
            <a:r>
              <a:rPr lang="en-US" sz="2000" dirty="0"/>
              <a:t> 	ALLOW: Let the request pass through to the application.</a:t>
            </a:r>
          </a:p>
          <a:p>
            <a:endParaRPr lang="en-US" sz="2000" dirty="0"/>
          </a:p>
          <a:p>
            <a:r>
              <a:rPr lang="en-US" sz="2000" dirty="0"/>
              <a:t> 	BLOCK: Stop the request and send back an error (usually HTTP 403 Forbidden).</a:t>
            </a:r>
          </a:p>
          <a:p>
            <a:endParaRPr lang="en-US" sz="2000" dirty="0"/>
          </a:p>
          <a:p>
            <a:r>
              <a:rPr lang="en-US" sz="2000" dirty="0"/>
              <a:t> 	COUNT: Log the request as a match for a rule, but still allow it to pass (useful for testing new rules).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6073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C2D25-1372-AEEF-04FF-87636FCE480F}"/>
              </a:ext>
            </a:extLst>
          </p:cNvPr>
          <p:cNvSpPr txBox="1"/>
          <p:nvPr/>
        </p:nvSpPr>
        <p:spPr>
          <a:xfrm>
            <a:off x="201106" y="144606"/>
            <a:ext cx="117897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Components (The Building Blocks)</a:t>
            </a:r>
          </a:p>
          <a:p>
            <a:endParaRPr lang="en-US" sz="2000" dirty="0"/>
          </a:p>
          <a:p>
            <a:r>
              <a:rPr lang="en-US" sz="2000" b="1" dirty="0"/>
              <a:t>1. Web ACL (Access Control List):</a:t>
            </a:r>
          </a:p>
          <a:p>
            <a:r>
              <a:rPr lang="en-US" sz="2000" dirty="0"/>
              <a:t>The main container for your security strategy.</a:t>
            </a:r>
          </a:p>
          <a:p>
            <a:r>
              <a:rPr lang="en-US" sz="2000" dirty="0"/>
              <a:t>It holds all your Rules and Rule Groups.</a:t>
            </a:r>
          </a:p>
          <a:p>
            <a:r>
              <a:rPr lang="en-US" sz="2000" dirty="0"/>
              <a:t>You attach a Web ACL to the AWS resource you want to protect (e.g., your ALB).</a:t>
            </a:r>
          </a:p>
          <a:p>
            <a:r>
              <a:rPr lang="en-US" sz="2000" dirty="0"/>
              <a:t>It defines a Default Action (e.g., "Block everything unless a rule allows it").</a:t>
            </a:r>
          </a:p>
          <a:p>
            <a:endParaRPr lang="en-US" sz="2000" dirty="0"/>
          </a:p>
          <a:p>
            <a:r>
              <a:rPr lang="en-US" sz="2000" b="1" dirty="0"/>
              <a:t>2. Rules:</a:t>
            </a:r>
          </a:p>
          <a:p>
            <a:r>
              <a:rPr lang="en-US" sz="2000" dirty="0"/>
              <a:t>The specific conditions WAF looks for.</a:t>
            </a:r>
          </a:p>
          <a:p>
            <a:r>
              <a:rPr lang="en-US" sz="2000" dirty="0"/>
              <a:t>Example: "If the request comes from IP address 1.2.3.4, then BLOCK it."</a:t>
            </a:r>
          </a:p>
          <a:p>
            <a:r>
              <a:rPr lang="en-US" sz="2000" dirty="0"/>
              <a:t>Example: "If the request contains the suspicious phrase ' UNION SELECT ', then BLOCK it (to prevent SQL Injection)."</a:t>
            </a:r>
          </a:p>
          <a:p>
            <a:endParaRPr lang="en-US" sz="2000" dirty="0"/>
          </a:p>
          <a:p>
            <a:r>
              <a:rPr lang="en-US" sz="2000" b="1" dirty="0"/>
              <a:t>3. Rule Groups:</a:t>
            </a:r>
          </a:p>
          <a:p>
            <a:r>
              <a:rPr lang="en-US" sz="2000" dirty="0"/>
              <a:t>A reusable collection of rules.</a:t>
            </a:r>
          </a:p>
          <a:p>
            <a:r>
              <a:rPr lang="en-US" sz="2000" dirty="0"/>
              <a:t>AWS Managed Rule Groups: Pre-built, maintained, and updated by AWS for common threats (like the OWASP Top 10 or Bot Control). This is the easiest way to start!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203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C6A619-2721-0114-ABAB-64CED4FAFA96}"/>
              </a:ext>
            </a:extLst>
          </p:cNvPr>
          <p:cNvSpPr txBox="1"/>
          <p:nvPr/>
        </p:nvSpPr>
        <p:spPr>
          <a:xfrm>
            <a:off x="113121" y="167054"/>
            <a:ext cx="1183063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Advantages</a:t>
            </a:r>
          </a:p>
          <a:p>
            <a:r>
              <a:rPr lang="en-US" sz="2000" dirty="0"/>
              <a:t>Stops Common Web Attacks: Effectively blocks high-risk threats like SQL Injection and Cross-Site Scripting (XSS).</a:t>
            </a:r>
          </a:p>
          <a:p>
            <a:endParaRPr lang="en-US" sz="2000" dirty="0"/>
          </a:p>
          <a:p>
            <a:r>
              <a:rPr lang="en-US" sz="2000" dirty="0"/>
              <a:t>Protects Critical Data: Prevents attackers from stealing sensitive information from your web applications.</a:t>
            </a:r>
          </a:p>
          <a:p>
            <a:endParaRPr lang="en-US" sz="2000" dirty="0"/>
          </a:p>
          <a:p>
            <a:r>
              <a:rPr lang="en-US" sz="2000" dirty="0"/>
              <a:t>Acts as a Virtual Patch: Can immediately block attacks against a vulnerability before a code fix is deployed.</a:t>
            </a:r>
          </a:p>
          <a:p>
            <a:endParaRPr lang="en-US" sz="2000" dirty="0"/>
          </a:p>
          <a:p>
            <a:r>
              <a:rPr lang="en-US" sz="2000" dirty="0"/>
              <a:t>Mitigates DDoS Attacks: Limits traffic surges to prevent application-layer Denial of Service (DDoS) events.</a:t>
            </a:r>
          </a:p>
          <a:p>
            <a:endParaRPr lang="en-US" sz="2000" dirty="0"/>
          </a:p>
          <a:p>
            <a:r>
              <a:rPr lang="en-US" sz="2000" dirty="0"/>
              <a:t>Improves Visibility: Provides logs and monitoring to help you see and understand attack attempts in real-time.</a:t>
            </a:r>
          </a:p>
          <a:p>
            <a:endParaRPr lang="en-US" sz="2000" dirty="0"/>
          </a:p>
          <a:p>
            <a:r>
              <a:rPr lang="en-US" sz="2000" b="1" dirty="0"/>
              <a:t>Disadvantages</a:t>
            </a:r>
          </a:p>
          <a:p>
            <a:r>
              <a:rPr lang="en-US" sz="2000" dirty="0"/>
              <a:t>Risk of False Positives: Can accidentally block legitimate users if security rules are set too strictly.</a:t>
            </a:r>
          </a:p>
          <a:p>
            <a:endParaRPr lang="en-US" sz="2000" dirty="0"/>
          </a:p>
          <a:p>
            <a:r>
              <a:rPr lang="en-US" sz="2000" dirty="0"/>
              <a:t>Vulnerable to Zero-Days: May not be able to stop new, unknown attacks until its threat signatures are updated.</a:t>
            </a:r>
          </a:p>
          <a:p>
            <a:endParaRPr lang="en-US" sz="2000" dirty="0"/>
          </a:p>
          <a:p>
            <a:r>
              <a:rPr lang="en-US" sz="2000" dirty="0"/>
              <a:t>Can Add Latency: The inspection process can sometimes slightly slow down web application performance.</a:t>
            </a:r>
          </a:p>
          <a:p>
            <a:endParaRPr lang="en-US" sz="2000" dirty="0"/>
          </a:p>
          <a:p>
            <a:r>
              <a:rPr lang="en-US" sz="2000" dirty="0"/>
              <a:t>Requires Ongoing Tuning: Needs constant maintenance and rule adjustments as your application changes.</a:t>
            </a:r>
          </a:p>
          <a:p>
            <a:endParaRPr lang="en-US" sz="2000" dirty="0"/>
          </a:p>
          <a:p>
            <a:r>
              <a:rPr lang="en-US" sz="2000" dirty="0"/>
              <a:t>Limited Scope: Only protects the application layer and does not secure the underlying network or server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01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DF53210-AD0A-FE3C-3321-60B272E84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75413"/>
            <a:ext cx="11962614" cy="669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9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068A8A-67F0-2095-9C71-B849A9D43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5" y="84343"/>
            <a:ext cx="11924907" cy="671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2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584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Reddy</dc:creator>
  <cp:lastModifiedBy>Rishitha Reddy</cp:lastModifiedBy>
  <cp:revision>36</cp:revision>
  <dcterms:created xsi:type="dcterms:W3CDTF">2025-10-20T10:47:09Z</dcterms:created>
  <dcterms:modified xsi:type="dcterms:W3CDTF">2025-11-03T08:55:56Z</dcterms:modified>
</cp:coreProperties>
</file>