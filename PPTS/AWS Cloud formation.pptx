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4" r:id="rId2"/>
    <p:sldId id="268" r:id="rId3"/>
    <p:sldId id="271" r:id="rId4"/>
    <p:sldId id="270" r:id="rId5"/>
    <p:sldId id="269" r:id="rId6"/>
    <p:sldId id="272" r:id="rId7"/>
    <p:sldId id="273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17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A82D1-CCC9-4A6A-B1A0-7B9D15704C2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C2A40-6B0D-43DB-B99F-5E90BC512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6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BF6E-0774-69AC-DEBE-AB187A61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5A90-85D6-F9EF-4A20-102ADEB57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2609-55AF-5D00-D1A2-EC9574A5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6A81-758C-EEED-FF1E-FB7C1FDD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9149-BC79-1DCA-E626-04D2CBF6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AA17-2549-A5B0-7877-FD676EAF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CD4F-3591-494D-E735-D9261238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A40A-C9AD-6AB2-F63B-C9AA3363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833B-F684-B080-5F15-79A581E8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D2D7-EEB0-8CC3-9C22-69BE5DE5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6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1902-DBCE-DCAF-EBFA-59BD9F3E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3783-320A-0055-1751-2C095122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1803D-AE72-9A55-AE7A-8FF4283D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EE6F-1D31-2D0B-B022-AD04E675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8AF9-1D39-08B6-969B-70200A7B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43DF-6119-2C5D-BA90-4A759897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8A0F-59A6-A605-45A2-46DCC8B84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C6D39-590C-88FF-1BAE-06B551915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D4EDF-BAC8-3BFE-105C-2FFA601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AA8C5-1218-7799-02AE-1CB6145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77B09-5311-A156-3973-630232D8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BACC-D0E6-7D08-2F49-423D4BE2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DB4-855D-A077-C003-782AA7CA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4064F-6465-D9C4-DEA2-AD17FD876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190DB-C071-6605-2D5B-51DB2DBEF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A4B36-99A9-BEFD-06D1-3691D1156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65DAE-F7F7-A0AB-1E5E-6B94FF97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1A28B-1197-A8B1-B009-3EA2C918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965EB-E941-B26E-781F-263AC26B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FBD9-1635-BB36-D889-5E184213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C90E9-EF82-4674-C339-9C422FAE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A4824-C159-EE7D-22FC-C5505EC2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A8CC0-B67E-22B4-B89A-D1D26A30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89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BE227-FB82-30B7-FA4A-88C5F1EA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7845-6BEF-E9D2-3B40-1EF3B9A9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7E2D4-5A4C-B43B-A2F9-F8EE9FBC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D296-F3B7-FFAC-E740-C79A89E1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62C2-A08D-C8E4-9B0C-AF6ADD0A2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B190-9FC7-2897-CBC1-AFFECC87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30F0-07F0-2914-FE3D-2BD56891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CD1AF-CF68-3BEB-303B-A8BB288E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C4E-B34B-D17F-228F-0ED95CA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35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1FA8-7F49-A131-457D-03C6063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134F5-D5F9-E0BF-1F48-E492C3A5C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A342-B84D-9B1C-A0FC-B625C9CF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ED652-30DC-4C4C-297A-85B8B72B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0DC1E-D904-EEEB-C3D2-198389B1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CEF54-46CE-58B1-B1F5-56795FAE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2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4AD2-E3F1-E476-7FF8-0DD6643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713E4-4F35-3DD5-D5CE-461E85D67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C7C4-EDCF-0C12-DAC7-DB938EEB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347C-F425-F2C0-CF30-BB98665B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34EB1-77B5-7E25-F428-1F87D370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3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8FF74-D03B-3AA2-5ABB-EE478E55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62C17-2DB2-D3CE-B89F-E9FDB7FBC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12A48-22B6-10A0-AAB4-0181DE68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D7CB-2C51-CC14-0B52-ABE04CF2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65DF-E42E-8E14-89CF-2E851665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0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9E9D-FB23-294A-7DBE-A421F17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1F2F-3726-EDA5-1F0D-E3DE91FF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282F-4508-0EE5-B35D-1AD566606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D27E-50E4-003C-DB9A-9A15744CC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C9F8-B5ED-2AD7-FAA5-D58106124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4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B6F66-B854-D642-385B-97A9017DCDC7}"/>
              </a:ext>
            </a:extLst>
          </p:cNvPr>
          <p:cNvSpPr txBox="1"/>
          <p:nvPr/>
        </p:nvSpPr>
        <p:spPr>
          <a:xfrm>
            <a:off x="235670" y="480767"/>
            <a:ext cx="1172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Topic on:-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EF9C6-A7D9-A1D4-6392-73B7329AD3A2}"/>
              </a:ext>
            </a:extLst>
          </p:cNvPr>
          <p:cNvSpPr txBox="1"/>
          <p:nvPr/>
        </p:nvSpPr>
        <p:spPr>
          <a:xfrm>
            <a:off x="7946797" y="5335571"/>
            <a:ext cx="378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		Presented By:-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/>
              <a:t>		Sai varun Reddy</a:t>
            </a:r>
          </a:p>
          <a:p>
            <a:r>
              <a:rPr lang="en-IN" sz="2000" b="1" dirty="0"/>
              <a:t>		Batch - 15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F0E8FE-CDB0-D949-90D9-171DAE924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493" y="1816197"/>
            <a:ext cx="5420411" cy="270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E4568-7226-C8F2-EB41-BED7B8C3FF1C}"/>
              </a:ext>
            </a:extLst>
          </p:cNvPr>
          <p:cNvSpPr txBox="1"/>
          <p:nvPr/>
        </p:nvSpPr>
        <p:spPr>
          <a:xfrm>
            <a:off x="348792" y="722518"/>
            <a:ext cx="11689237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AWS CloudFormation? </a:t>
            </a:r>
          </a:p>
          <a:p>
            <a:endParaRPr lang="en-US" sz="2000" dirty="0"/>
          </a:p>
          <a:p>
            <a:r>
              <a:rPr lang="en-US" sz="2000" dirty="0"/>
              <a:t>Definition: A service that helps you model and set up your Amazon Web Services resources so you can spend less time managing those resources and more time focusing on your applications.</a:t>
            </a:r>
          </a:p>
          <a:p>
            <a:endParaRPr lang="en-US" sz="2000" dirty="0"/>
          </a:p>
          <a:p>
            <a:r>
              <a:rPr lang="en-US" sz="2000" dirty="0"/>
              <a:t>The Single Source of Truth: Your entire environment (VPC, EC2, Databases, IAM roles, etc.) is defined in a single text file.</a:t>
            </a:r>
          </a:p>
          <a:p>
            <a:endParaRPr lang="en-US" sz="2000" dirty="0"/>
          </a:p>
          <a:p>
            <a:r>
              <a:rPr lang="en-US" sz="2000" b="1" dirty="0"/>
              <a:t>Declarative vs. Imperative:</a:t>
            </a:r>
          </a:p>
          <a:p>
            <a:endParaRPr lang="en-US" sz="2000" dirty="0"/>
          </a:p>
          <a:p>
            <a:r>
              <a:rPr lang="en-US" sz="2000" dirty="0"/>
              <a:t>Declarative (CloudFormation): You describe the desired final state </a:t>
            </a:r>
          </a:p>
          <a:p>
            <a:r>
              <a:rPr lang="en-US" sz="2000" dirty="0"/>
              <a:t>(e.g., "I need 1 VPC, 2 EC2 instances, and 1 RDS database"). CloudFormation figures out the steps.</a:t>
            </a:r>
          </a:p>
          <a:p>
            <a:endParaRPr lang="en-US" sz="2000" dirty="0"/>
          </a:p>
          <a:p>
            <a:r>
              <a:rPr lang="en-US" sz="2000" dirty="0"/>
              <a:t>Imperative (Scripts): You define the specific steps to reach the goal </a:t>
            </a:r>
          </a:p>
          <a:p>
            <a:r>
              <a:rPr lang="en-US" sz="2000" dirty="0"/>
              <a:t>(e.g., "Step 1: Create VPC. Step 2: Wait 30s. Step 3: Create Subnet...").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76146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0BFEDD-F015-1BFF-5370-8B596D20C2E2}"/>
              </a:ext>
            </a:extLst>
          </p:cNvPr>
          <p:cNvSpPr txBox="1"/>
          <p:nvPr/>
        </p:nvSpPr>
        <p:spPr>
          <a:xfrm>
            <a:off x="245096" y="615201"/>
            <a:ext cx="1175522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Cloud Formation:-The Infrastructure Challenge (Why We Need </a:t>
            </a:r>
            <a:r>
              <a:rPr lang="en-US" b="1" dirty="0" err="1"/>
              <a:t>IaC</a:t>
            </a:r>
            <a:r>
              <a:rPr lang="en-US" b="1" dirty="0"/>
              <a:t>):-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Problem: Manually provisioning and managing cloud resources is: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Time-Consuming: Clicking through the console takes too long.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Error-Prone: Human errors lead to configuration drift and inconsistencies.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Non-Repeatable: Difficult to deploy identical environments (Dev, Test, Prod).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 to Track: No version control or audit trail for infrastructure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Solution: Infrastructure as Code (</a:t>
            </a:r>
            <a:r>
              <a:rPr lang="en-US" b="1" dirty="0" err="1"/>
              <a:t>IaC</a:t>
            </a:r>
            <a:r>
              <a:rPr lang="en-US" b="1" dirty="0"/>
              <a:t>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Treat your infrastructure configuration files like code.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Version control, review, and automate deployment.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585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9B09F1-C75C-672B-CD0B-3CF5C7610A09}"/>
              </a:ext>
            </a:extLst>
          </p:cNvPr>
          <p:cNvSpPr txBox="1"/>
          <p:nvPr/>
        </p:nvSpPr>
        <p:spPr>
          <a:xfrm>
            <a:off x="75414" y="338202"/>
            <a:ext cx="1197204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Concepts: Template &amp; Stack:-</a:t>
            </a:r>
          </a:p>
          <a:p>
            <a:endParaRPr lang="en-US" sz="2000" dirty="0"/>
          </a:p>
          <a:p>
            <a:r>
              <a:rPr lang="en-US" sz="2000" b="1" dirty="0"/>
              <a:t>1. Template (The Blueprints):-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JSON or YAML formatted text file that describes your AWS resources.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defines the resource types, properties, and dependencies.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 Resource: AWS::EC2::Instance, AWS::S3::Bucket.</a:t>
            </a:r>
          </a:p>
          <a:p>
            <a:endParaRPr lang="en-US" sz="2000" dirty="0"/>
          </a:p>
          <a:p>
            <a:r>
              <a:rPr lang="en-US" sz="2000" b="1" dirty="0"/>
              <a:t>2. Stack (The Deployed Reality):-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collection of AWS resources created by CloudFormation from a single template.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CloudFormation manages all these resources as a single unit.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any resource fails to create, the entire stack automatically rolls back to its previous state (or attempts a full cleanup).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Visual Idea: Template (Code File) → CloudFormation Service → Stack (A set of live, related AWS services).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1566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8C1E5-10CD-773C-221E-71A2F98BD97C}"/>
              </a:ext>
            </a:extLst>
          </p:cNvPr>
          <p:cNvSpPr txBox="1"/>
          <p:nvPr/>
        </p:nvSpPr>
        <p:spPr>
          <a:xfrm>
            <a:off x="226242" y="615201"/>
            <a:ext cx="1178350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Features &amp; Benefits:-</a:t>
            </a:r>
          </a:p>
          <a:p>
            <a:endParaRPr lang="en-US" sz="2000" b="1" dirty="0"/>
          </a:p>
          <a:p>
            <a:r>
              <a:rPr lang="en-US" sz="2000" b="1" dirty="0"/>
              <a:t>Automation and Repeatability: </a:t>
            </a:r>
            <a:r>
              <a:rPr lang="en-US" sz="2000" dirty="0"/>
              <a:t>Launch complex infrastructures instantly and consistently across multiple regions/accounts.</a:t>
            </a:r>
          </a:p>
          <a:p>
            <a:endParaRPr lang="en-US" sz="2000" dirty="0"/>
          </a:p>
          <a:p>
            <a:r>
              <a:rPr lang="en-US" sz="2000" b="1" dirty="0"/>
              <a:t>State Management: </a:t>
            </a:r>
            <a:r>
              <a:rPr lang="en-US" sz="2000" dirty="0"/>
              <a:t>CloudFormation tracks the state of your infrastructure, serving as the "single source of truth."</a:t>
            </a:r>
          </a:p>
          <a:p>
            <a:endParaRPr lang="en-US" sz="2000" dirty="0"/>
          </a:p>
          <a:p>
            <a:r>
              <a:rPr lang="en-US" sz="2000" b="1" dirty="0"/>
              <a:t>Version Control: </a:t>
            </a:r>
            <a:r>
              <a:rPr lang="en-US" sz="2000" dirty="0"/>
              <a:t>Store templates in Git; treat your infrastructure like any other application code.</a:t>
            </a:r>
          </a:p>
          <a:p>
            <a:endParaRPr lang="en-US" sz="2000" dirty="0"/>
          </a:p>
          <a:p>
            <a:r>
              <a:rPr lang="en-US" sz="2000" b="1" dirty="0"/>
              <a:t>Rollbacks: </a:t>
            </a:r>
            <a:r>
              <a:rPr lang="en-US" sz="2000" dirty="0"/>
              <a:t>Automatic rollback to the last known good state if a stack creation/update fails.</a:t>
            </a:r>
          </a:p>
          <a:p>
            <a:endParaRPr lang="en-US" sz="2000" dirty="0"/>
          </a:p>
          <a:p>
            <a:r>
              <a:rPr lang="en-US" sz="2000" b="1" dirty="0"/>
              <a:t>Change Sets: </a:t>
            </a:r>
            <a:r>
              <a:rPr lang="en-US" sz="2000" dirty="0"/>
              <a:t>Preview the exact changes (additions, modifications, deletions) CloudFormation will make before applying an update, reducing risk.</a:t>
            </a:r>
          </a:p>
          <a:p>
            <a:endParaRPr lang="en-US" sz="2000" dirty="0"/>
          </a:p>
          <a:p>
            <a:r>
              <a:rPr lang="en-US" sz="2000" b="1" dirty="0"/>
              <a:t>Cross-Region/Cross-Account Deployment: </a:t>
            </a:r>
            <a:r>
              <a:rPr lang="en-US" sz="2000" dirty="0"/>
              <a:t>Use </a:t>
            </a:r>
            <a:r>
              <a:rPr lang="en-US" sz="2000" dirty="0" err="1"/>
              <a:t>StackSets</a:t>
            </a:r>
            <a:r>
              <a:rPr lang="en-US" sz="2000" dirty="0"/>
              <a:t> to deploy a common infrastructure pattern across many accounts and regions simultaneously.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06617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BCF14D-6968-4A04-D7D2-90F35F5D552A}"/>
              </a:ext>
            </a:extLst>
          </p:cNvPr>
          <p:cNvSpPr txBox="1"/>
          <p:nvPr/>
        </p:nvSpPr>
        <p:spPr>
          <a:xfrm>
            <a:off x="179108" y="61203"/>
            <a:ext cx="1186834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Advanced Concepts:-Dependencies and Drift</a:t>
            </a:r>
          </a:p>
          <a:p>
            <a:endParaRPr lang="en-US" sz="2000" b="1" dirty="0"/>
          </a:p>
          <a:p>
            <a:r>
              <a:rPr lang="en-US" sz="2000" b="1" dirty="0"/>
              <a:t>Resource Dependencies:</a:t>
            </a:r>
          </a:p>
          <a:p>
            <a:endParaRPr lang="en-US" sz="2000" dirty="0"/>
          </a:p>
          <a:p>
            <a:r>
              <a:rPr lang="en-US" sz="2000" dirty="0"/>
              <a:t>CloudFormation handles resource creation order automatically (e.g., a Subnet must exist before an EC2 instance can be placed in it).</a:t>
            </a:r>
          </a:p>
          <a:p>
            <a:endParaRPr lang="en-US" sz="2000" dirty="0"/>
          </a:p>
          <a:p>
            <a:r>
              <a:rPr lang="en-US" sz="2000" dirty="0"/>
              <a:t>You can explicitly define dependencies using the Depends On attribute.</a:t>
            </a:r>
          </a:p>
          <a:p>
            <a:endParaRPr lang="en-US" sz="2000" dirty="0"/>
          </a:p>
          <a:p>
            <a:r>
              <a:rPr lang="en-US" sz="2000" b="1" dirty="0"/>
              <a:t>Drift Detection:</a:t>
            </a:r>
          </a:p>
          <a:p>
            <a:endParaRPr lang="en-US" sz="2000" dirty="0"/>
          </a:p>
          <a:p>
            <a:r>
              <a:rPr lang="en-US" sz="2000" dirty="0"/>
              <a:t>Allows you to detect if a resource's actual configuration in the AWS console differs from its definition in the CloudFormation template.</a:t>
            </a:r>
          </a:p>
          <a:p>
            <a:endParaRPr lang="en-US" sz="2000" dirty="0"/>
          </a:p>
          <a:p>
            <a:r>
              <a:rPr lang="en-US" sz="2000" dirty="0"/>
              <a:t>Helps you identify and correct unauthorized or manual changes ("Configuration Drift").</a:t>
            </a:r>
          </a:p>
          <a:p>
            <a:endParaRPr lang="en-US" sz="2000" dirty="0"/>
          </a:p>
          <a:p>
            <a:r>
              <a:rPr lang="en-US" sz="2000" b="1" dirty="0"/>
              <a:t>Nested Stacks:</a:t>
            </a:r>
          </a:p>
          <a:p>
            <a:endParaRPr lang="en-US" sz="2000" dirty="0"/>
          </a:p>
          <a:p>
            <a:r>
              <a:rPr lang="en-US" sz="2000" dirty="0"/>
              <a:t>Break down large, complex templates into smaller, reusable components (e.g., one stack for the VPC, another for the Application Layer).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88426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11CCF5-6565-D05D-A8CF-7DEA0DB74689}"/>
              </a:ext>
            </a:extLst>
          </p:cNvPr>
          <p:cNvSpPr txBox="1"/>
          <p:nvPr/>
        </p:nvSpPr>
        <p:spPr>
          <a:xfrm>
            <a:off x="94268" y="103695"/>
            <a:ext cx="1143471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CloudFormation Advantages (Pros):-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Consistent/Repeatable Builds (Zero config drift)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Automatic Rollback (Deployment safety net)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Managed by AWS (No external tools to manage)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Easy Resource Cleanup (Deletes everything together)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Infrastructure as Code (</a:t>
            </a:r>
            <a:r>
              <a:rPr lang="en-IN" dirty="0" err="1"/>
              <a:t>IaC</a:t>
            </a:r>
            <a:r>
              <a:rPr lang="en-IN" dirty="0"/>
              <a:t>) (Version control for setup)</a:t>
            </a:r>
          </a:p>
          <a:p>
            <a:endParaRPr lang="en-IN" dirty="0"/>
          </a:p>
          <a:p>
            <a:r>
              <a:rPr lang="en-IN" b="1" dirty="0"/>
              <a:t>CloudFormation Disadvantages (Cons):-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AWS-Only (No multi-cloud support)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Steep Learning Curve (Templates can be complex)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Slow Deployment Times (Especially for complex stacks)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Limited Template Logic (Less dynamic than code)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Template Size Limits (Must split large infrastructures)</a:t>
            </a:r>
          </a:p>
        </p:txBody>
      </p:sp>
    </p:spTree>
    <p:extLst>
      <p:ext uri="{BB962C8B-B14F-4D97-AF65-F5344CB8AC3E}">
        <p14:creationId xmlns:p14="http://schemas.microsoft.com/office/powerpoint/2010/main" val="1352365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DF53210-AD0A-FE3C-3321-60B272E84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75413"/>
            <a:ext cx="11962614" cy="669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93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068A8A-67F0-2095-9C71-B849A9D43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5" y="84343"/>
            <a:ext cx="11924907" cy="671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2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723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Reddy</dc:creator>
  <cp:lastModifiedBy>Rishitha Reddy</cp:lastModifiedBy>
  <cp:revision>35</cp:revision>
  <dcterms:created xsi:type="dcterms:W3CDTF">2025-10-20T10:47:09Z</dcterms:created>
  <dcterms:modified xsi:type="dcterms:W3CDTF">2025-10-31T12:31:10Z</dcterms:modified>
</cp:coreProperties>
</file>