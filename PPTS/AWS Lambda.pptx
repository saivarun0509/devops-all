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4" r:id="rId2"/>
    <p:sldId id="256" r:id="rId3"/>
    <p:sldId id="257" r:id="rId4"/>
    <p:sldId id="260" r:id="rId5"/>
    <p:sldId id="268" r:id="rId6"/>
    <p:sldId id="269" r:id="rId7"/>
    <p:sldId id="266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17" autoAdjust="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A82D1-CCC9-4A6A-B1A0-7B9D15704C2A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AC2A40-6B0D-43DB-B99F-5E90BC5127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964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5BF6E-0774-69AC-DEBE-AB187A61D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BC5A90-85D6-F9EF-4A20-102ADEB571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A2609-55AF-5D00-D1A2-EC9574A59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F6A81-758C-EEED-FF1E-FB7C1FDDD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C9149-BC79-1DCA-E626-04D2CBF66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728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3AA17-2549-A5B0-7877-FD676EAF2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DCD4F-3591-494D-E735-D92612382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8A40A-C9AD-6AB2-F63B-C9AA33635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B833B-F684-B080-5F15-79A581E8B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AD2D7-EEB0-8CC3-9C22-69BE5DE58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264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21902-DBCE-DCAF-EBFA-59BD9F3EB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C3783-320A-0055-1751-2C0951227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1803D-AE72-9A55-AE7A-8FF4283DB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DEE6F-1D31-2D0B-B022-AD04E675B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98AF9-1D39-08B6-969B-70200A7B2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38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E43DF-6119-2C5D-BA90-4A7598974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E8A0F-59A6-A605-45A2-46DCC8B84D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6C6D39-590C-88FF-1BAE-06B5519152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D4EDF-BAC8-3BFE-105C-2FFA60116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2AA8C5-1218-7799-02AE-1CB614541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77B09-5311-A156-3973-630232D8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42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4BACC-D0E6-7D08-2F49-423D4BE28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7EDB4-855D-A077-C003-782AA7CA2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4064F-6465-D9C4-DEA2-AD17FD876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7190DB-C071-6605-2D5B-51DB2DBEFC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EA4B36-99A9-BEFD-06D1-3691D11568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B65DAE-F7F7-A0AB-1E5E-6B94FF97E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A1A28B-1197-A8B1-B009-3EA2C9180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8965EB-E941-B26E-781F-263AC26B8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333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6FBD9-1635-BB36-D889-5E184213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2C90E9-EF82-4674-C339-9C422FAE6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AA4824-C159-EE7D-22FC-C5505EC2C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AA8CC0-B67E-22B4-B89A-D1D26A303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894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7BE227-FB82-30B7-FA4A-88C5F1EA2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537845-6BEF-E9D2-3B40-1EF3B9A92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7E2D4-5A4C-B43B-A2F9-F8EE9FBC8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747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3D296-F3B7-FFAC-E740-C79A89E19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862C2-A08D-C8E4-9B0C-AF6ADD0A2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E4B190-9FC7-2897-CBC1-AFFECC8778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30F0-07F0-2914-FE3D-2BD56891B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CD1AF-CF68-3BEB-303B-A8BB288EC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6AC4E-B34B-D17F-228F-0ED95CA08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35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D1FA8-7F49-A131-457D-03C6063EC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7134F5-D5F9-E0BF-1F48-E492C3A5C0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4A342-B84D-9B1C-A0FC-B625C9CF6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ED652-30DC-4C4C-297A-85B8B72B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0DC1E-D904-EEEB-C3D2-198389B1A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CEF54-46CE-58B1-B1F5-56795FAE2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928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F4AD2-E3F1-E476-7FF8-0DD66432E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9713E4-4F35-3DD5-D5CE-461E85D67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2C7C4-EDCF-0C12-DAC7-DB938EEBC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5347C-F425-F2C0-CF30-BB98665BE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34EB1-77B5-7E25-F428-1F87D3707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236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68FF74-D03B-3AA2-5ABB-EE478E55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E62C17-2DB2-D3CE-B89F-E9FDB7FBC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12A48-22B6-10A0-AAB4-0181DE684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6D7CB-2C51-CC14-0B52-ABE04CF2E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F65DF-E42E-8E14-89CF-2E8516659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909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889E9D-FB23-294A-7DBE-A421F171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91F2F-3726-EDA5-1F0D-E3DE91FF5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1282F-4508-0EE5-B35D-1AD5666068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5D27E-50E4-003C-DB9A-9A15744CC8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8C9F8-B5ED-2AD7-FAA5-D58106124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544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5B6F66-B854-D642-385B-97A9017DCDC7}"/>
              </a:ext>
            </a:extLst>
          </p:cNvPr>
          <p:cNvSpPr txBox="1"/>
          <p:nvPr/>
        </p:nvSpPr>
        <p:spPr>
          <a:xfrm>
            <a:off x="235670" y="480767"/>
            <a:ext cx="11726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Topic on:-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AEF9C6-A7D9-A1D4-6392-73B7329AD3A2}"/>
              </a:ext>
            </a:extLst>
          </p:cNvPr>
          <p:cNvSpPr txBox="1"/>
          <p:nvPr/>
        </p:nvSpPr>
        <p:spPr>
          <a:xfrm>
            <a:off x="7946797" y="5335571"/>
            <a:ext cx="37801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/>
                </a:solidFill>
              </a:rPr>
              <a:t>		Presented By:-</a:t>
            </a:r>
          </a:p>
          <a:p>
            <a:endParaRPr lang="en-IN" sz="2000" b="1" dirty="0">
              <a:solidFill>
                <a:schemeClr val="accent1"/>
              </a:solidFill>
            </a:endParaRPr>
          </a:p>
          <a:p>
            <a:r>
              <a:rPr lang="en-IN" sz="2000" b="1" dirty="0"/>
              <a:t>		Sai varun Reddy</a:t>
            </a:r>
          </a:p>
          <a:p>
            <a:r>
              <a:rPr lang="en-IN" sz="2000" b="1" dirty="0"/>
              <a:t>		Batch - 15</a:t>
            </a:r>
          </a:p>
        </p:txBody>
      </p:sp>
      <p:pic>
        <p:nvPicPr>
          <p:cNvPr id="1026" name="Picture 2" descr="Serverless Computing - AWS Lambda ...">
            <a:extLst>
              <a:ext uri="{FF2B5EF4-FFF2-40B4-BE49-F238E27FC236}">
                <a16:creationId xmlns:a16="http://schemas.microsoft.com/office/drawing/2014/main" id="{FEAA6861-659A-1955-C0FA-0EBEFA429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4029" y="1188653"/>
            <a:ext cx="5684363" cy="398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7515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C88258F-9C6D-8A65-ECAB-0A6B71C558A4}"/>
              </a:ext>
            </a:extLst>
          </p:cNvPr>
          <p:cNvSpPr txBox="1"/>
          <p:nvPr/>
        </p:nvSpPr>
        <p:spPr>
          <a:xfrm>
            <a:off x="353960" y="108156"/>
            <a:ext cx="1174954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Introduction to AWS Lambda:-</a:t>
            </a:r>
          </a:p>
          <a:p>
            <a:endParaRPr lang="en-US" dirty="0"/>
          </a:p>
          <a:p>
            <a:r>
              <a:rPr lang="en-US" b="1" dirty="0"/>
              <a:t> What is Serverless Computing?</a:t>
            </a:r>
          </a:p>
          <a:p>
            <a:r>
              <a:rPr lang="en-US" dirty="0"/>
              <a:t>Serverless is a cloud-native development model that allows you to build and run applications without managing servers.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6385714-C644-5783-31A0-C922D3CCB4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671693"/>
              </p:ext>
            </p:extLst>
          </p:nvPr>
        </p:nvGraphicFramePr>
        <p:xfrm>
          <a:off x="589934" y="1779639"/>
          <a:ext cx="11051460" cy="4591664"/>
        </p:xfrm>
        <a:graphic>
          <a:graphicData uri="http://schemas.openxmlformats.org/drawingml/2006/table">
            <a:tbl>
              <a:tblPr/>
              <a:tblGrid>
                <a:gridCol w="5525730">
                  <a:extLst>
                    <a:ext uri="{9D8B030D-6E8A-4147-A177-3AD203B41FA5}">
                      <a16:colId xmlns:a16="http://schemas.microsoft.com/office/drawing/2014/main" val="4279138322"/>
                    </a:ext>
                  </a:extLst>
                </a:gridCol>
                <a:gridCol w="5525730">
                  <a:extLst>
                    <a:ext uri="{9D8B030D-6E8A-4147-A177-3AD203B41FA5}">
                      <a16:colId xmlns:a16="http://schemas.microsoft.com/office/drawing/2014/main" val="3428077752"/>
                    </a:ext>
                  </a:extLst>
                </a:gridCol>
              </a:tblGrid>
              <a:tr h="971313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b="0" baseline="0" dirty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Traditional Model (EC2/VM)</a:t>
                      </a:r>
                    </a:p>
                  </a:txBody>
                  <a:tcPr marT="60960" marB="609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2627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b="0" baseline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Serverless Model (Lambda)</a:t>
                      </a:r>
                    </a:p>
                  </a:txBody>
                  <a:tcPr marT="60960" marB="609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2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037559"/>
                  </a:ext>
                </a:extLst>
              </a:tr>
              <a:tr h="1324519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b="1" baseline="0" dirty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You</a:t>
                      </a:r>
                      <a:r>
                        <a:rPr lang="en-US" b="0" baseline="0" dirty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 manage servers, OS, patching, scaling.</a:t>
                      </a:r>
                    </a:p>
                  </a:txBody>
                  <a:tcPr marT="60960" marB="609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2627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b="1" baseline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AWS</a:t>
                      </a:r>
                      <a:r>
                        <a:rPr lang="en-US" b="0" baseline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 manages all server provisioning and infrastructure.</a:t>
                      </a:r>
                    </a:p>
                  </a:txBody>
                  <a:tcPr marT="60960" marB="609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2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491577"/>
                  </a:ext>
                </a:extLst>
              </a:tr>
              <a:tr h="971313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b="0" baseline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You pay for </a:t>
                      </a:r>
                      <a:r>
                        <a:rPr lang="en-US" b="1" baseline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allocated capacity</a:t>
                      </a:r>
                      <a:r>
                        <a:rPr lang="en-US" b="0" baseline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 (24/7).</a:t>
                      </a:r>
                    </a:p>
                  </a:txBody>
                  <a:tcPr marT="60960" marB="609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2627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b="0" baseline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You pay only for </a:t>
                      </a:r>
                      <a:r>
                        <a:rPr lang="en-US" b="1" baseline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compute time consumed</a:t>
                      </a:r>
                      <a:r>
                        <a:rPr lang="en-US" b="0" baseline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.</a:t>
                      </a:r>
                    </a:p>
                  </a:txBody>
                  <a:tcPr marT="60960" marB="609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2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809196"/>
                  </a:ext>
                </a:extLst>
              </a:tr>
              <a:tr h="1324519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b="0" baseline="0" dirty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Scaling is </a:t>
                      </a:r>
                      <a:r>
                        <a:rPr lang="en-US" b="1" baseline="0" dirty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manual or requires configuration</a:t>
                      </a:r>
                      <a:r>
                        <a:rPr lang="en-US" b="0" baseline="0" dirty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.</a:t>
                      </a:r>
                    </a:p>
                  </a:txBody>
                  <a:tcPr marT="60960" marB="609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2627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b="0" baseline="0" dirty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Scaling is </a:t>
                      </a:r>
                      <a:r>
                        <a:rPr lang="en-US" b="1" baseline="0" dirty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automatic and elastic</a:t>
                      </a:r>
                      <a:r>
                        <a:rPr lang="en-US" b="0" baseline="0" dirty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 from zero to thousands.</a:t>
                      </a:r>
                    </a:p>
                  </a:txBody>
                  <a:tcPr marT="60960" marB="609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2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33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7648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624B2D-3FAE-436B-9E67-21F8F643AF07}"/>
              </a:ext>
            </a:extLst>
          </p:cNvPr>
          <p:cNvSpPr txBox="1"/>
          <p:nvPr/>
        </p:nvSpPr>
        <p:spPr>
          <a:xfrm>
            <a:off x="78354" y="174242"/>
            <a:ext cx="1165153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r>
              <a:rPr lang="en-US" sz="2000" dirty="0"/>
              <a:t>AWS Lambda is an event-driven, serverless compute service.</a:t>
            </a:r>
          </a:p>
          <a:p>
            <a:endParaRPr lang="en-US" sz="2000" dirty="0"/>
          </a:p>
          <a:p>
            <a:r>
              <a:rPr lang="en-US" sz="2000" dirty="0"/>
              <a:t>Key Definition:-</a:t>
            </a:r>
          </a:p>
          <a:p>
            <a:r>
              <a:rPr lang="en-US" sz="2000" dirty="0"/>
              <a:t>Run Code: You upload your code (a Lambda Function) in a supported runtime (Node.js, Python, Java, etc.).</a:t>
            </a:r>
          </a:p>
          <a:p>
            <a:endParaRPr lang="en-US" sz="2000" dirty="0"/>
          </a:p>
          <a:p>
            <a:r>
              <a:rPr lang="en-US" sz="2000" dirty="0"/>
              <a:t>Event-Driven: The function only runs when it's triggered by an event.</a:t>
            </a:r>
          </a:p>
          <a:p>
            <a:endParaRPr lang="en-US" sz="2000" dirty="0"/>
          </a:p>
          <a:p>
            <a:r>
              <a:rPr lang="en-US" sz="2000" dirty="0"/>
              <a:t>No Administration: AWS handles the provisioning, scaling, and maintenance of the computing infrastructure.</a:t>
            </a:r>
          </a:p>
          <a:p>
            <a:endParaRPr lang="en-US" sz="2000" dirty="0"/>
          </a:p>
          <a:p>
            <a:r>
              <a:rPr lang="en-US" sz="2000" dirty="0"/>
              <a:t>The Value Proposition</a:t>
            </a:r>
          </a:p>
          <a:p>
            <a:r>
              <a:rPr lang="en-US" sz="2000" dirty="0"/>
              <a:t>Maximum Agility: Accelerate development by focusing entirely on business logic.</a:t>
            </a:r>
          </a:p>
          <a:p>
            <a:endParaRPr lang="en-US" sz="2000" dirty="0"/>
          </a:p>
          <a:p>
            <a:r>
              <a:rPr lang="en-US" sz="2000" dirty="0"/>
              <a:t>Operational Simplicity: Zero administrative overhead for infrastructure.</a:t>
            </a:r>
          </a:p>
          <a:p>
            <a:endParaRPr lang="en-US" sz="2000" dirty="0"/>
          </a:p>
          <a:p>
            <a:r>
              <a:rPr lang="en-US" sz="2000" dirty="0"/>
              <a:t>Cost Efficiency: Pay precisely for the code execution time</a:t>
            </a:r>
            <a:r>
              <a:rPr lang="en-US" sz="3200" dirty="0"/>
              <a:t>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37824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A879E5-01EE-FCA5-D29A-EBA0379BA743}"/>
              </a:ext>
            </a:extLst>
          </p:cNvPr>
          <p:cNvSpPr txBox="1"/>
          <p:nvPr/>
        </p:nvSpPr>
        <p:spPr>
          <a:xfrm>
            <a:off x="84842" y="113122"/>
            <a:ext cx="1210715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</a:t>
            </a:r>
            <a:r>
              <a:rPr lang="en-US" sz="2000" b="1" dirty="0"/>
              <a:t>Architecture &amp; Mechanics:-The Core Event-Driven Model</a:t>
            </a:r>
          </a:p>
          <a:p>
            <a:endParaRPr lang="en-US" sz="2000" dirty="0"/>
          </a:p>
          <a:p>
            <a:r>
              <a:rPr lang="en-US" sz="2000" dirty="0"/>
              <a:t>Lambda functions are the "glue" that connects services, running code in response to changes.</a:t>
            </a:r>
          </a:p>
          <a:p>
            <a:endParaRPr lang="en-US" sz="2000" dirty="0"/>
          </a:p>
          <a:p>
            <a:r>
              <a:rPr lang="en-US" sz="2000" dirty="0"/>
              <a:t>The Lambda Workflow:-</a:t>
            </a:r>
          </a:p>
          <a:p>
            <a:r>
              <a:rPr lang="en-US" sz="2000" dirty="0"/>
              <a:t>Event Source (The Trigger): A service or application generates an event. (e.g., a file is uploaded to S3, a new message arrives in SQS, or an API Gateway receives an HTTP request).</a:t>
            </a:r>
          </a:p>
          <a:p>
            <a:endParaRPr lang="en-US" sz="2000" dirty="0"/>
          </a:p>
          <a:p>
            <a:r>
              <a:rPr lang="en-US" sz="2000" dirty="0"/>
              <a:t>Lambda Function (Your Code): The event triggers your code to execute.</a:t>
            </a:r>
          </a:p>
          <a:p>
            <a:endParaRPr lang="en-US" sz="2000" dirty="0"/>
          </a:p>
          <a:p>
            <a:r>
              <a:rPr lang="en-US" sz="2000" dirty="0"/>
              <a:t>Execution Environment: AWS spins up a secure, isolated environment (a temporary container) to run the code.</a:t>
            </a:r>
          </a:p>
          <a:p>
            <a:endParaRPr lang="en-US" sz="2000" dirty="0"/>
          </a:p>
          <a:p>
            <a:r>
              <a:rPr lang="en-US" sz="2000" dirty="0"/>
              <a:t>Downstream Service: The function processes the data and typically interacts with another AWS service (e.g., writes to DynamoDB, sends a notification via SNS).</a:t>
            </a:r>
          </a:p>
          <a:p>
            <a:endParaRPr lang="en-US" sz="2000" dirty="0"/>
          </a:p>
          <a:p>
            <a:r>
              <a:rPr lang="en-US" sz="2000" dirty="0"/>
              <a:t>[Suggested Visual: A simple flow chart connecting S3 → Lambda → DynamoDB.]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78069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D1A0B1-1B45-23C5-4DB1-33A9A5845FC5}"/>
              </a:ext>
            </a:extLst>
          </p:cNvPr>
          <p:cNvSpPr txBox="1"/>
          <p:nvPr/>
        </p:nvSpPr>
        <p:spPr>
          <a:xfrm>
            <a:off x="188536" y="311085"/>
            <a:ext cx="1187777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Common Serverless Architecture Example:-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Building a Scalable REST API </a:t>
            </a:r>
            <a:r>
              <a:rPr lang="en-US" sz="2400" dirty="0" err="1"/>
              <a:t>Backend,A</a:t>
            </a:r>
            <a:r>
              <a:rPr lang="en-US" sz="2400" dirty="0"/>
              <a:t> user sends an API request (HTTP) to Amazon API Gateway.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API Gateway passes the request data (Event Object) to a Lambda Function.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Lambda function executes the business logic (e.g., validating the user, processing the order).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function reads or writes data to a serverless database like Amazon DynamoDB.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function returns the response to API Gateway, which passes it back to the user.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This entire architecture has no persistent servers to manage, patch, or scale.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21676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1E07A0-91CD-EAD7-82E9-48E657DB8BEF}"/>
              </a:ext>
            </a:extLst>
          </p:cNvPr>
          <p:cNvSpPr txBox="1"/>
          <p:nvPr/>
        </p:nvSpPr>
        <p:spPr>
          <a:xfrm>
            <a:off x="113122" y="103695"/>
            <a:ext cx="1181178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AWS Lambda: Pros and Cons:-</a:t>
            </a:r>
          </a:p>
          <a:p>
            <a:endParaRPr lang="en-US" dirty="0"/>
          </a:p>
          <a:p>
            <a:r>
              <a:rPr lang="en-US" dirty="0"/>
              <a:t>A balanced view of when to use and when to reconsider Lambda.</a:t>
            </a:r>
          </a:p>
          <a:p>
            <a:endParaRPr lang="en-US" dirty="0"/>
          </a:p>
          <a:p>
            <a:r>
              <a:rPr lang="en-US" b="1" dirty="0"/>
              <a:t>✅ Advantages (Pros)</a:t>
            </a:r>
          </a:p>
          <a:p>
            <a:r>
              <a:rPr lang="en-US" dirty="0"/>
              <a:t>Cost Optimization: True pay-per-use billing eliminates waste from idle capacity.</a:t>
            </a:r>
          </a:p>
          <a:p>
            <a:endParaRPr lang="en-US" dirty="0"/>
          </a:p>
          <a:p>
            <a:r>
              <a:rPr lang="en-US" dirty="0"/>
              <a:t>Infinite Scalability: Handles massive, unpredictable spikes in traffic automatically.</a:t>
            </a:r>
          </a:p>
          <a:p>
            <a:endParaRPr lang="en-US" dirty="0"/>
          </a:p>
          <a:p>
            <a:r>
              <a:rPr lang="en-US" dirty="0"/>
              <a:t>Simplified Operations: Eliminates OS, server, and runtime management.</a:t>
            </a:r>
          </a:p>
          <a:p>
            <a:endParaRPr lang="en-US" dirty="0"/>
          </a:p>
          <a:p>
            <a:r>
              <a:rPr lang="en-US" dirty="0"/>
              <a:t>Rapid Iteration: Faster deployment cycles and smaller, single-purpose code units.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❌ Limitations (Cons)</a:t>
            </a:r>
          </a:p>
          <a:p>
            <a:r>
              <a:rPr lang="en-US" dirty="0"/>
              <a:t>Cold Start Latency: Initial invocation delay, though mitigable with Provisioned Concurrency.</a:t>
            </a:r>
          </a:p>
          <a:p>
            <a:endParaRPr lang="en-US" dirty="0"/>
          </a:p>
          <a:p>
            <a:r>
              <a:rPr lang="en-US" dirty="0"/>
              <a:t>Max Execution Time: Limited to 15 minutes per invocation. Not suitable for long-running batch jobs.</a:t>
            </a:r>
          </a:p>
          <a:p>
            <a:endParaRPr lang="en-US" dirty="0"/>
          </a:p>
          <a:p>
            <a:r>
              <a:rPr lang="en-US" dirty="0"/>
              <a:t>Stateless Requirement: Functions must be stateless, requiring external services (DynamoDB, S3) for persistent data.</a:t>
            </a:r>
          </a:p>
          <a:p>
            <a:endParaRPr lang="en-US" dirty="0"/>
          </a:p>
          <a:p>
            <a:r>
              <a:rPr lang="en-US" dirty="0"/>
              <a:t>Vendor Lock-in: Code is tightly integrated with the AWS ecosystem and event model.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1376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8DF53210-AD0A-FE3C-3321-60B272E84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22" y="75413"/>
            <a:ext cx="11962614" cy="6693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1930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4068A8A-67F0-2095-9C71-B849A9D43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75" y="84343"/>
            <a:ext cx="11924907" cy="6711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042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621</Words>
  <Application>Microsoft Office PowerPoint</Application>
  <PresentationFormat>Widescreen</PresentationFormat>
  <Paragraphs>84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Google Sans Flex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Rishitha Reddy</dc:creator>
  <cp:lastModifiedBy>Rishitha Reddy</cp:lastModifiedBy>
  <cp:revision>27</cp:revision>
  <dcterms:created xsi:type="dcterms:W3CDTF">2025-10-20T10:47:09Z</dcterms:created>
  <dcterms:modified xsi:type="dcterms:W3CDTF">2025-10-31T06:04:15Z</dcterms:modified>
</cp:coreProperties>
</file>