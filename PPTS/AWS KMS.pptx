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8" r:id="rId3"/>
    <p:sldId id="269" r:id="rId4"/>
    <p:sldId id="270" r:id="rId5"/>
    <p:sldId id="271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9FE93-F4C1-A868-19AA-05BBD9FE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311" y="1391845"/>
            <a:ext cx="6851323" cy="374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1296C6-432E-7CA1-BC58-0C51BBD6AD25}"/>
              </a:ext>
            </a:extLst>
          </p:cNvPr>
          <p:cNvSpPr txBox="1"/>
          <p:nvPr/>
        </p:nvSpPr>
        <p:spPr>
          <a:xfrm>
            <a:off x="162612" y="217064"/>
            <a:ext cx="1193197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What is KMS?</a:t>
            </a:r>
          </a:p>
          <a:p>
            <a:endParaRPr lang="en-US" dirty="0"/>
          </a:p>
          <a:p>
            <a:r>
              <a:rPr lang="en-US" dirty="0"/>
              <a:t>KMS is a fully managed service that simplifies the creation and control of cryptographic keys used to protect your data across AWS services and your own applications.</a:t>
            </a:r>
          </a:p>
          <a:p>
            <a:endParaRPr lang="en-US" dirty="0"/>
          </a:p>
          <a:p>
            <a:r>
              <a:rPr lang="en-US" b="1" dirty="0"/>
              <a:t>The Core Problem &amp; KMS Solution</a:t>
            </a:r>
          </a:p>
          <a:p>
            <a:endParaRPr lang="en-US" b="1" dirty="0"/>
          </a:p>
          <a:p>
            <a:r>
              <a:rPr lang="en-US" b="1" dirty="0"/>
              <a:t>The Security Foundation: Where Are Your Keys?</a:t>
            </a:r>
          </a:p>
          <a:p>
            <a:endParaRPr lang="en-US" dirty="0"/>
          </a:p>
          <a:p>
            <a:r>
              <a:rPr lang="en-US" b="1" dirty="0"/>
              <a:t>Challenge :</a:t>
            </a:r>
          </a:p>
          <a:p>
            <a:endParaRPr lang="en-US" dirty="0"/>
          </a:p>
          <a:p>
            <a:r>
              <a:rPr lang="en-US" dirty="0"/>
              <a:t>Key Management is Hard: Creating, storing, rotating, and defining access for encryption keys is complex and a major source of risk.</a:t>
            </a:r>
          </a:p>
          <a:p>
            <a:endParaRPr lang="en-US" dirty="0"/>
          </a:p>
          <a:p>
            <a:r>
              <a:rPr lang="en-US" dirty="0"/>
              <a:t>High Assurance Needed: The key used to protect your data must be the most secured asset.</a:t>
            </a:r>
          </a:p>
          <a:p>
            <a:endParaRPr lang="en-US" dirty="0"/>
          </a:p>
          <a:p>
            <a:r>
              <a:rPr lang="en-US" b="1" dirty="0"/>
              <a:t>KMS Solution (Bullet Points):</a:t>
            </a:r>
          </a:p>
          <a:p>
            <a:endParaRPr lang="en-US" dirty="0"/>
          </a:p>
          <a:p>
            <a:r>
              <a:rPr lang="en-US" dirty="0"/>
              <a:t>Hardware-Secured Keys: KMS keys are protected by FIPS 140-2 validated Hardware Security Modules (HSMs).</a:t>
            </a:r>
          </a:p>
          <a:p>
            <a:endParaRPr lang="en-US" dirty="0"/>
          </a:p>
          <a:p>
            <a:r>
              <a:rPr lang="en-US" dirty="0"/>
              <a:t>The Ultimate Guardrail: The unencrypted key material never leaves the KMS service.</a:t>
            </a:r>
          </a:p>
          <a:p>
            <a:endParaRPr lang="en-US" dirty="0"/>
          </a:p>
          <a:p>
            <a:r>
              <a:rPr lang="en-US" dirty="0"/>
              <a:t>Visual Idea: A diagram showing a key safely contained within a shielded icon (the HSM).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50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8DDAB-2932-A1FB-114D-3DFED53CB8EB}"/>
              </a:ext>
            </a:extLst>
          </p:cNvPr>
          <p:cNvSpPr txBox="1"/>
          <p:nvPr/>
        </p:nvSpPr>
        <p:spPr>
          <a:xfrm>
            <a:off x="122548" y="476701"/>
            <a:ext cx="1194376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 How It Works: Envelope Encryption</a:t>
            </a:r>
          </a:p>
          <a:p>
            <a:endParaRPr lang="en-US" sz="2000" dirty="0"/>
          </a:p>
          <a:p>
            <a:r>
              <a:rPr lang="en-US" sz="2000" dirty="0"/>
              <a:t>How It Works: Protecting Large Data with Envelope Encryption</a:t>
            </a:r>
          </a:p>
          <a:p>
            <a:endParaRPr lang="en-US" sz="2000" dirty="0"/>
          </a:p>
          <a:p>
            <a:r>
              <a:rPr lang="en-US" sz="2000" dirty="0"/>
              <a:t>Main Idea: For large datasets, KMS uses a technique called Envelope Encryption to keep the process secure and efficient.</a:t>
            </a:r>
          </a:p>
          <a:p>
            <a:endParaRPr lang="en-US" sz="2000" dirty="0"/>
          </a:p>
          <a:p>
            <a:r>
              <a:rPr lang="en-US" sz="2000" dirty="0"/>
              <a:t>4-Step Process:</a:t>
            </a:r>
          </a:p>
          <a:p>
            <a:endParaRPr lang="en-US" sz="2000" dirty="0"/>
          </a:p>
          <a:p>
            <a:r>
              <a:rPr lang="en-US" sz="2000" dirty="0"/>
              <a:t>Request: Your application requests a temporary Data Key from KMS.</a:t>
            </a:r>
          </a:p>
          <a:p>
            <a:endParaRPr lang="en-US" sz="2000" dirty="0"/>
          </a:p>
          <a:p>
            <a:r>
              <a:rPr lang="en-US" sz="2000" dirty="0"/>
              <a:t>Receive: KMS returns the Plaintext Data Key and the Encrypted Data Key (encrypted by the master KMS key).</a:t>
            </a:r>
          </a:p>
          <a:p>
            <a:endParaRPr lang="en-US" sz="2000" dirty="0"/>
          </a:p>
          <a:p>
            <a:r>
              <a:rPr lang="en-US" sz="2000" dirty="0"/>
              <a:t>Encrypt: Your application uses the Plaintext Data Key to encrypt your large data (e.g., a 1GB file).</a:t>
            </a:r>
          </a:p>
          <a:p>
            <a:endParaRPr lang="en-US" sz="2000" dirty="0"/>
          </a:p>
          <a:p>
            <a:r>
              <a:rPr lang="en-US" sz="2000" dirty="0"/>
              <a:t>Store: The application immediately destroys the plaintext key and stores the Encrypted Data alongside the Encrypted Data Key.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7131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5CA449-BF79-D16D-5AE9-5CFE74EEF59E}"/>
              </a:ext>
            </a:extLst>
          </p:cNvPr>
          <p:cNvSpPr txBox="1"/>
          <p:nvPr/>
        </p:nvSpPr>
        <p:spPr>
          <a:xfrm>
            <a:off x="100552" y="267128"/>
            <a:ext cx="1199089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Benefits :</a:t>
            </a:r>
          </a:p>
          <a:p>
            <a:endParaRPr lang="en-US" sz="2400" dirty="0"/>
          </a:p>
          <a:p>
            <a:r>
              <a:rPr lang="en-US" sz="2400" dirty="0"/>
              <a:t>Centralized Access Control: Use Key Policies and IAM to define who (user or service) can use a key and for which action (Encrypt, Decrypt, etc.).</a:t>
            </a:r>
          </a:p>
          <a:p>
            <a:endParaRPr lang="en-US" sz="2400" dirty="0"/>
          </a:p>
          <a:p>
            <a:r>
              <a:rPr lang="en-US" sz="2400" dirty="0"/>
              <a:t>Seamless Integration: Works automatically with S3, EBS, RDS, Lambda, and over 100 other AWS services with simple configuration.</a:t>
            </a:r>
          </a:p>
          <a:p>
            <a:endParaRPr lang="en-US" sz="2400" dirty="0"/>
          </a:p>
          <a:p>
            <a:r>
              <a:rPr lang="en-US" sz="2400" dirty="0"/>
              <a:t>Full Audit Trail: Integrates with AWS CloudTrail to log every single API call made to manage or use your keys, which is critical for compliance.</a:t>
            </a:r>
          </a:p>
          <a:p>
            <a:endParaRPr lang="en-US" sz="2400" dirty="0"/>
          </a:p>
          <a:p>
            <a:r>
              <a:rPr lang="en-US" sz="2400" dirty="0"/>
              <a:t>Automatic Key Rotation: Easily enable KMS to automatically rotate the cryptographic material for your customer-managed keys every year, reducing administrative overhead.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842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E1497-A89C-A7E9-B878-F208710DC246}"/>
              </a:ext>
            </a:extLst>
          </p:cNvPr>
          <p:cNvSpPr txBox="1"/>
          <p:nvPr/>
        </p:nvSpPr>
        <p:spPr>
          <a:xfrm>
            <a:off x="100552" y="100375"/>
            <a:ext cx="119908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Top-Tier Security: Keys are protected inside FIPS-validated hardware (HSMs) and never leave the service unencrypted.</a:t>
            </a:r>
          </a:p>
          <a:p>
            <a:endParaRPr lang="en-US" dirty="0"/>
          </a:p>
          <a:p>
            <a:r>
              <a:rPr lang="en-US" dirty="0"/>
              <a:t>Centralized Control: Manage all encryption keys and policies from a single point using IAM and Key Policies.</a:t>
            </a:r>
          </a:p>
          <a:p>
            <a:endParaRPr lang="en-US" dirty="0"/>
          </a:p>
          <a:p>
            <a:r>
              <a:rPr lang="en-US" dirty="0"/>
              <a:t>Easy Integration: Works seamlessly and automatically with over 100 other AWS services (S3, EBS, RDS, etc.).</a:t>
            </a:r>
          </a:p>
          <a:p>
            <a:endParaRPr lang="en-US" dirty="0"/>
          </a:p>
          <a:p>
            <a:r>
              <a:rPr lang="en-US" dirty="0"/>
              <a:t>Full Audit Trail: All key usage is logged by AWS CloudTrail for easy compliance and security monitoring.</a:t>
            </a:r>
          </a:p>
          <a:p>
            <a:endParaRPr lang="en-US" dirty="0"/>
          </a:p>
          <a:p>
            <a:r>
              <a:rPr lang="en-US" dirty="0"/>
              <a:t>High Availability: The service is reliable, durable, and redundant across multiple Availability Zones.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Vendor Lock-in: You cannot export the key material for AWS-generated keys to use outside of AWS.</a:t>
            </a:r>
          </a:p>
          <a:p>
            <a:endParaRPr lang="en-US" dirty="0"/>
          </a:p>
          <a:p>
            <a:r>
              <a:rPr lang="en-US" dirty="0"/>
              <a:t>API Throttling Risk: All key operations require an API call to KMS, which can be throttled if API limits are exceeded.</a:t>
            </a:r>
          </a:p>
          <a:p>
            <a:endParaRPr lang="en-US" dirty="0"/>
          </a:p>
          <a:p>
            <a:r>
              <a:rPr lang="en-US" dirty="0"/>
              <a:t>Cost for Usage: You pay a monthly fee for each Customer Managed Key (CMK) plus charges for high-volume API requests.</a:t>
            </a:r>
          </a:p>
          <a:p>
            <a:endParaRPr lang="en-US" dirty="0"/>
          </a:p>
          <a:p>
            <a:r>
              <a:rPr lang="en-US" dirty="0"/>
              <a:t>Network Dependency: All cryptographic operations depend on the network connection and the KMS service being available.</a:t>
            </a:r>
          </a:p>
          <a:p>
            <a:endParaRPr lang="en-US" dirty="0"/>
          </a:p>
          <a:p>
            <a:r>
              <a:rPr lang="en-US" dirty="0"/>
              <a:t>4 KB Limit: KMS keys can only directly encrypt data up to 4 KB; larger data requires the Envelope Encryption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24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602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37</cp:revision>
  <dcterms:created xsi:type="dcterms:W3CDTF">2025-10-20T10:47:09Z</dcterms:created>
  <dcterms:modified xsi:type="dcterms:W3CDTF">2025-11-03T09:18:29Z</dcterms:modified>
</cp:coreProperties>
</file>