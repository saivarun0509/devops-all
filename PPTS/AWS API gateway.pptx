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4" r:id="rId2"/>
    <p:sldId id="268" r:id="rId3"/>
    <p:sldId id="270" r:id="rId4"/>
    <p:sldId id="271" r:id="rId5"/>
    <p:sldId id="272" r:id="rId6"/>
    <p:sldId id="266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17" autoAdjust="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A82D1-CCC9-4A6A-B1A0-7B9D15704C2A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AC2A40-6B0D-43DB-B99F-5E90BC5127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964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5BF6E-0774-69AC-DEBE-AB187A61D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BC5A90-85D6-F9EF-4A20-102ADEB57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A2609-55AF-5D00-D1A2-EC9574A5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F6A81-758C-EEED-FF1E-FB7C1FDDD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9149-BC79-1DCA-E626-04D2CBF6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72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AA17-2549-A5B0-7877-FD676EAF2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DCD4F-3591-494D-E735-D92612382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8A40A-C9AD-6AB2-F63B-C9AA33635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B833B-F684-B080-5F15-79A581E8B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AD2D7-EEB0-8CC3-9C22-69BE5DE5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264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21902-DBCE-DCAF-EBFA-59BD9F3E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C3783-320A-0055-1751-2C0951227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1803D-AE72-9A55-AE7A-8FF4283D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EE6F-1D31-2D0B-B022-AD04E675B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798AF9-1D39-08B6-969B-70200A7B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E43DF-6119-2C5D-BA90-4A759897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E8A0F-59A6-A605-45A2-46DCC8B84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C6D39-590C-88FF-1BAE-06B551915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D4EDF-BAC8-3BFE-105C-2FFA60116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2AA8C5-1218-7799-02AE-1CB61454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77B09-5311-A156-3973-630232D8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4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4BACC-D0E6-7D08-2F49-423D4BE28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7EDB4-855D-A077-C003-782AA7CA2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24064F-6465-D9C4-DEA2-AD17FD87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190DB-C071-6605-2D5B-51DB2DBEF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A4B36-99A9-BEFD-06D1-3691D1156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65DAE-F7F7-A0AB-1E5E-6B94FF97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1A28B-1197-A8B1-B009-3EA2C918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965EB-E941-B26E-781F-263AC26B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33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FBD9-1635-BB36-D889-5E1842135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C90E9-EF82-4674-C339-9C422FAE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A4824-C159-EE7D-22FC-C5505EC2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A8CC0-B67E-22B4-B89A-D1D26A303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894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BE227-FB82-30B7-FA4A-88C5F1EA2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7845-6BEF-E9D2-3B40-1EF3B9A92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7E2D4-5A4C-B43B-A2F9-F8EE9FBC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74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3D296-F3B7-FFAC-E740-C79A89E1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862C2-A08D-C8E4-9B0C-AF6ADD0A2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E4B190-9FC7-2897-CBC1-AFFECC877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0F0-07F0-2914-FE3D-2BD56891B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CD1AF-CF68-3BEB-303B-A8BB288E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56AC4E-B34B-D17F-228F-0ED95CA08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35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D1FA8-7F49-A131-457D-03C6063EC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134F5-D5F9-E0BF-1F48-E492C3A5C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24A342-B84D-9B1C-A0FC-B625C9CF6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ED652-30DC-4C4C-297A-85B8B72B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0DC1E-D904-EEEB-C3D2-198389B1A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CEF54-46CE-58B1-B1F5-56795F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928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4AD2-E3F1-E476-7FF8-0DD66432E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713E4-4F35-3DD5-D5CE-461E85D67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2C7C4-EDCF-0C12-DAC7-DB938EEB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5347C-F425-F2C0-CF30-BB98665B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34EB1-77B5-7E25-F428-1F87D370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236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68FF74-D03B-3AA2-5ABB-EE478E55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2C17-2DB2-D3CE-B89F-E9FDB7FBC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12A48-22B6-10A0-AAB4-0181DE684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D7CB-2C51-CC14-0B52-ABE04CF2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F65DF-E42E-8E14-89CF-2E8516659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909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89E9D-FB23-294A-7DBE-A421F171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1F2F-3726-EDA5-1F0D-E3DE91FF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1282F-4508-0EE5-B35D-1AD566606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7DBF-E081-43AC-9BB5-C37C4BA7406D}" type="datetimeFigureOut">
              <a:rPr lang="en-IN" smtClean="0"/>
              <a:t>31-10-2025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5D27E-50E4-003C-DB9A-9A15744CC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8C9F8-B5ED-2AD7-FAA5-D58106124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AE56D-B8E4-44F7-B3E4-70F604838A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54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5B6F66-B854-D642-385B-97A9017DCDC7}"/>
              </a:ext>
            </a:extLst>
          </p:cNvPr>
          <p:cNvSpPr txBox="1"/>
          <p:nvPr/>
        </p:nvSpPr>
        <p:spPr>
          <a:xfrm>
            <a:off x="235670" y="480767"/>
            <a:ext cx="11726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Topic on:-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AEF9C6-A7D9-A1D4-6392-73B7329AD3A2}"/>
              </a:ext>
            </a:extLst>
          </p:cNvPr>
          <p:cNvSpPr txBox="1"/>
          <p:nvPr/>
        </p:nvSpPr>
        <p:spPr>
          <a:xfrm>
            <a:off x="7946797" y="5335571"/>
            <a:ext cx="37801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</a:rPr>
              <a:t>		Presented By:-</a:t>
            </a:r>
          </a:p>
          <a:p>
            <a:endParaRPr lang="en-IN" sz="2000" b="1" dirty="0">
              <a:solidFill>
                <a:schemeClr val="accent1"/>
              </a:solidFill>
            </a:endParaRPr>
          </a:p>
          <a:p>
            <a:r>
              <a:rPr lang="en-IN" sz="2000" b="1" dirty="0"/>
              <a:t>		Sai varun Reddy</a:t>
            </a:r>
          </a:p>
          <a:p>
            <a:r>
              <a:rPr lang="en-IN" sz="2000" b="1" dirty="0"/>
              <a:t>		Batch - 15</a:t>
            </a:r>
          </a:p>
        </p:txBody>
      </p:sp>
      <p:pic>
        <p:nvPicPr>
          <p:cNvPr id="3" name="Picture 2" descr="Amazon API Gateway with Apiable">
            <a:extLst>
              <a:ext uri="{FF2B5EF4-FFF2-40B4-BE49-F238E27FC236}">
                <a16:creationId xmlns:a16="http://schemas.microsoft.com/office/drawing/2014/main" id="{78F251F3-8C40-48E6-15DB-D3E342780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174" y="1385740"/>
            <a:ext cx="3959257" cy="322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5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F8E6AC-1595-1CD3-05C7-803B589DF5E4}"/>
              </a:ext>
            </a:extLst>
          </p:cNvPr>
          <p:cNvSpPr txBox="1"/>
          <p:nvPr/>
        </p:nvSpPr>
        <p:spPr>
          <a:xfrm>
            <a:off x="185393" y="145298"/>
            <a:ext cx="1182121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AWS API Gateway?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Definition: A fully managed service that acts as the "front door" for client applications (web, mobile, IoT) to access your backend services.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It handles all the tasks involved in accepting and processing up to hundreds of thousands of concurrent API calls.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Key Function: It decouples the client application from the complexity of your backend architecture (e.g., microservices, Lambda functions).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Serverless: API Gateway is serverless, meaning there is no infrastructure to manage or scale.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640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CFED20-1558-0325-AF36-EB0B94BF1EF9}"/>
              </a:ext>
            </a:extLst>
          </p:cNvPr>
          <p:cNvSpPr txBox="1"/>
          <p:nvPr/>
        </p:nvSpPr>
        <p:spPr>
          <a:xfrm>
            <a:off x="84842" y="65988"/>
            <a:ext cx="12107158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Core Architecture &amp; Flow:-</a:t>
            </a:r>
          </a:p>
          <a:p>
            <a:endParaRPr lang="en-US" sz="2000" dirty="0"/>
          </a:p>
          <a:p>
            <a:r>
              <a:rPr lang="en-US" sz="2000" dirty="0"/>
              <a:t>1.Client: Sends an API request (e.g., a GET or POST call).</a:t>
            </a:r>
          </a:p>
          <a:p>
            <a:endParaRPr lang="en-US" sz="2000" dirty="0"/>
          </a:p>
          <a:p>
            <a:r>
              <a:rPr lang="en-US" sz="2000" dirty="0"/>
              <a:t>2.API Gateway: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Authorization: Checks credentials using IAM, Cognito, or a Lambda Authorizer.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Throttling: Enforces rate limits (e.g., 100 requests per second).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Caching: Checks if a valid cached response is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Mapping: Transforms the request format if needed.</a:t>
            </a:r>
          </a:p>
          <a:p>
            <a:endParaRPr lang="en-US" sz="2000" dirty="0"/>
          </a:p>
          <a:p>
            <a:r>
              <a:rPr lang="en-US" sz="2000" dirty="0"/>
              <a:t>3.Backend Integration: Routes the request to the target: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AWS Lambda (Most Common)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 Endpoints (EC2, ECS, On-premises)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AWS Services (DynamoDB, Step Functions)</a:t>
            </a:r>
          </a:p>
          <a:p>
            <a:endParaRPr lang="en-US" sz="2000" dirty="0"/>
          </a:p>
          <a:p>
            <a:r>
              <a:rPr lang="en-US" sz="2000" dirty="0"/>
              <a:t>4.Response: Receives the backend response, transforms it, and returns it to the client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3594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694A45E-5BD9-5F2C-72C7-796A0B43C546}"/>
              </a:ext>
            </a:extLst>
          </p:cNvPr>
          <p:cNvSpPr txBox="1"/>
          <p:nvPr/>
        </p:nvSpPr>
        <p:spPr>
          <a:xfrm>
            <a:off x="181467" y="145272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Three Types of APIs (The Critical Difference):-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778316B-C82C-6B48-A100-8BEEAD247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715887"/>
              </p:ext>
            </p:extLst>
          </p:nvPr>
        </p:nvGraphicFramePr>
        <p:xfrm>
          <a:off x="181467" y="545382"/>
          <a:ext cx="11829066" cy="6167346"/>
        </p:xfrm>
        <a:graphic>
          <a:graphicData uri="http://schemas.openxmlformats.org/drawingml/2006/table">
            <a:tbl>
              <a:tblPr/>
              <a:tblGrid>
                <a:gridCol w="3943022">
                  <a:extLst>
                    <a:ext uri="{9D8B030D-6E8A-4147-A177-3AD203B41FA5}">
                      <a16:colId xmlns:a16="http://schemas.microsoft.com/office/drawing/2014/main" val="4014866686"/>
                    </a:ext>
                  </a:extLst>
                </a:gridCol>
                <a:gridCol w="3943022">
                  <a:extLst>
                    <a:ext uri="{9D8B030D-6E8A-4147-A177-3AD203B41FA5}">
                      <a16:colId xmlns:a16="http://schemas.microsoft.com/office/drawing/2014/main" val="1029815305"/>
                    </a:ext>
                  </a:extLst>
                </a:gridCol>
                <a:gridCol w="3943022">
                  <a:extLst>
                    <a:ext uri="{9D8B030D-6E8A-4147-A177-3AD203B41FA5}">
                      <a16:colId xmlns:a16="http://schemas.microsoft.com/office/drawing/2014/main" val="1681554901"/>
                    </a:ext>
                  </a:extLst>
                </a:gridCol>
              </a:tblGrid>
              <a:tr h="47421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API Type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Best For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Key Characteristics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46276"/>
                  </a:ext>
                </a:extLst>
              </a:tr>
              <a:tr h="183300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1. HTTP APIs</a:t>
                      </a:r>
                      <a:endParaRPr lang="en-IN" sz="2000" b="0" baseline="0">
                        <a:solidFill>
                          <a:schemeClr val="bg1"/>
                        </a:solidFill>
                        <a:effectLst/>
                        <a:latin typeface="Google Sans Flex"/>
                      </a:endParaRP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General-purpose APIs, Serverless workloads, Low-latency needs.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Lowest Cost</a:t>
                      </a:r>
                      <a:r>
                        <a:rPr lang="en-US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(up to 71% cheaper) and </a:t>
                      </a:r>
                      <a:r>
                        <a:rPr lang="en-US" sz="2000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Lowest Latency</a:t>
                      </a:r>
                      <a:r>
                        <a:rPr lang="en-US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. Simple, basic API proxy functionality. Limited features compared to REST APIs.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524690"/>
                  </a:ext>
                </a:extLst>
              </a:tr>
              <a:tr h="202711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2. REST APIs</a:t>
                      </a:r>
                      <a:endParaRPr lang="en-IN" sz="2000" b="0" baseline="0">
                        <a:solidFill>
                          <a:schemeClr val="bg1"/>
                        </a:solidFill>
                        <a:effectLst/>
                        <a:latin typeface="Google Sans Flex"/>
                      </a:endParaRP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APIs requiring comprehensive management, fine-grained control, and advanced features.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1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Feature-rich: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Supports 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API Keys, Usage Plans, AWS WAF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integration, Request Validation, and Caching. Higher cost and latency than HTTP APIs.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603274"/>
                  </a:ext>
                </a:extLst>
              </a:tr>
              <a:tr h="1833006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b="1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3. WebSocket APIs</a:t>
                      </a:r>
                      <a:endParaRPr lang="en-IN" sz="2000" b="0" baseline="0">
                        <a:solidFill>
                          <a:schemeClr val="bg1"/>
                        </a:solidFill>
                        <a:effectLst/>
                        <a:latin typeface="Google Sans Flex"/>
                      </a:endParaRP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baseline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Real-time, two-way communication applications (Chat apps, Live dashboards).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Maintains a </a:t>
                      </a:r>
                      <a:r>
                        <a:rPr lang="en-US" sz="2000" b="1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persistent connection</a:t>
                      </a:r>
                      <a:r>
                        <a:rPr lang="en-US" sz="2000" b="0" baseline="0" dirty="0">
                          <a:solidFill>
                            <a:schemeClr val="bg1"/>
                          </a:solidFill>
                          <a:effectLst/>
                          <a:latin typeface="Google Sans Flex"/>
                        </a:rPr>
                        <a:t> for continuous message exchange between the server and the client.</a:t>
                      </a:r>
                    </a:p>
                  </a:txBody>
                  <a:tcPr marL="63292" marR="63292" marT="42195" marB="4219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26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707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04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CBC6B5-E5F7-F92B-EFAA-1A0F81D7586D}"/>
              </a:ext>
            </a:extLst>
          </p:cNvPr>
          <p:cNvSpPr txBox="1"/>
          <p:nvPr/>
        </p:nvSpPr>
        <p:spPr>
          <a:xfrm>
            <a:off x="141402" y="1215613"/>
            <a:ext cx="1172694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Key Use Cases: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Building Serverless Backends: Exposing AWS Lambda functions via a simple API.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Unified Microservices Façade: Providing a single entry point for numerous backend services.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Partner/Developer Ecosystem: Securely exposing APIs to external parties with metered access (Usage Plans).</a:t>
            </a:r>
          </a:p>
          <a:p>
            <a:endParaRPr lang="en-US" sz="2000" dirty="0"/>
          </a:p>
          <a:p>
            <a:r>
              <a:rPr lang="en-US" sz="2000" b="1" dirty="0"/>
              <a:t>Summary (Key Takeaways):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API Gateway is fully managed and serverless.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offers three flexible types: HTTP (Fast/Cheap), REST (Feature-Rich), and WebSocket (Real-Time).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centralizes security, traffic management, and monitoring.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5F347-AF9E-05A9-8C6E-ED9B036AFB10}"/>
              </a:ext>
            </a:extLst>
          </p:cNvPr>
          <p:cNvSpPr txBox="1"/>
          <p:nvPr/>
        </p:nvSpPr>
        <p:spPr>
          <a:xfrm>
            <a:off x="141402" y="192406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Use Cases and Summary</a:t>
            </a:r>
          </a:p>
        </p:txBody>
      </p:sp>
    </p:spTree>
    <p:extLst>
      <p:ext uri="{BB962C8B-B14F-4D97-AF65-F5344CB8AC3E}">
        <p14:creationId xmlns:p14="http://schemas.microsoft.com/office/powerpoint/2010/main" val="3597904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8DF53210-AD0A-FE3C-3321-60B272E84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22" y="75413"/>
            <a:ext cx="11962614" cy="669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9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4068A8A-67F0-2095-9C71-B849A9D43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975" y="84343"/>
            <a:ext cx="11924907" cy="671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2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474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Google Sans Flex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Rishitha Reddy</dc:creator>
  <cp:lastModifiedBy>Rishitha Reddy</cp:lastModifiedBy>
  <cp:revision>30</cp:revision>
  <dcterms:created xsi:type="dcterms:W3CDTF">2025-10-20T10:47:09Z</dcterms:created>
  <dcterms:modified xsi:type="dcterms:W3CDTF">2025-10-31T06:20:13Z</dcterms:modified>
</cp:coreProperties>
</file>